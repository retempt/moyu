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/>
      <p:sp>
        <p:nvSpPr>
          <p:cNvPr id="2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49AE70B2-8BF9-45C0-BB95-33D1B9D3A854}" type="slidenum">
              <a:rPr/>
            </a:fld>
            <a:endParaRPr/>
          </a:p>
        </p:txBody>
      </p:sp>
      <p:pic>
        <p:nvPicPr>
          <p:cNvPr id="3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10" y="304165"/>
            <a:ext cx="3564890" cy="1234440"/>
          </a:xfrm>
          <a:prstGeom prst="rect">
            <a:avLst/>
          </a:prstGeom>
        </p:spPr>
      </p:pic>
      <p:sp>
        <p:nvSpPr>
          <p:cNvPr id="5" name="文本框 14"/>
          <p:cNvSpPr>
            <a:spLocks noGrp="1"/>
          </p:cNvSpPr>
          <p:nvPr/>
        </p:nvSpPr>
        <p:spPr>
          <a:xfrm>
            <a:off x="9906635" y="6367145"/>
            <a:ext cx="2199640" cy="34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>
              <a:lnSpc>
                <a:spcPct val="130000"/>
              </a:lnSpc>
              <a:buNone/>
            </a:pPr>
            <a:r>
              <a:rPr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智能终端操作系统根社区</a:t>
            </a:r>
            <a:endParaRPr sz="1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直接连接符 15"/>
          <p:cNvSpPr>
            <a:spLocks noGrp="1"/>
          </p:cNvSpPr>
          <p:nvPr/>
        </p:nvSpPr>
        <p:spPr>
          <a:xfrm>
            <a:off x="11434445" y="6685280"/>
            <a:ext cx="53784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F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图片 1"/>
          <p:cNvPicPr>
            <a:picLocks noChangeAspect="1"/>
          </p:cNvPicPr>
          <p:nvPr/>
        </p:nvPicPr>
        <p:blipFill rotWithShape="1">
          <a:blip r:embed="rId2">
            <a:alphaModFix amt="20000"/>
          </a:blip>
          <a:srcRect b="13216"/>
          <a:stretch>
            <a:fillRect/>
          </a:stretch>
        </p:blipFill>
        <p:spPr>
          <a:xfrm>
            <a:off x="7546126" y="0"/>
            <a:ext cx="4151671" cy="5794408"/>
          </a:xfrm>
          <a:prstGeom prst="rect">
            <a:avLst/>
          </a:prstGeom>
        </p:spPr>
      </p:pic>
      <p:sp>
        <p:nvSpPr>
          <p:cNvPr id="10" name="文本框 3"/>
          <p:cNvSpPr>
            <a:spLocks noGrp="1"/>
          </p:cNvSpPr>
          <p:nvPr/>
        </p:nvSpPr>
        <p:spPr>
          <a:xfrm>
            <a:off x="9763201" y="6305810"/>
            <a:ext cx="2199640" cy="34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智能终端操作系统根社区</a:t>
            </a:r>
            <a:endParaRPr sz="14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直接连接符 15"/>
          <p:cNvSpPr>
            <a:spLocks noGrp="1"/>
          </p:cNvSpPr>
          <p:nvPr/>
        </p:nvSpPr>
        <p:spPr>
          <a:xfrm>
            <a:off x="11291011" y="6623945"/>
            <a:ext cx="537845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pic>
        <p:nvPicPr>
          <p:cNvPr id="12" name="图片 9"/>
          <p:cNvPicPr>
            <a:picLocks noChangeAspect="1"/>
          </p:cNvPicPr>
          <p:nvPr/>
        </p:nvPicPr>
        <p:blipFill>
          <a:blip r:embed="rId3">
            <a:alphaModFix amt="21000"/>
          </a:blip>
          <a:srcRect/>
          <a:stretch>
            <a:fillRect/>
          </a:stretch>
        </p:blipFill>
        <p:spPr>
          <a:xfrm>
            <a:off x="0" y="3261146"/>
            <a:ext cx="2999678" cy="4133416"/>
          </a:xfrm>
          <a:prstGeom prst="rect">
            <a:avLst/>
          </a:prstGeom>
        </p:spPr>
      </p:pic>
      <p:pic>
        <p:nvPicPr>
          <p:cNvPr id="13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73" y="0"/>
            <a:ext cx="3483086" cy="13061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1_标题幻灯片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灯片编号占位符 5"/>
          <p:cNvSpPr>
            <a:spLocks noGrp="1"/>
          </p:cNvSpPr>
          <p:nvPr>
            <p:ph type="sldNum" idx="12"/>
          </p:nvPr>
        </p:nvSpPr>
        <p:spPr>
          <a:xfrm>
            <a:off x="445008" y="6356350"/>
            <a:ext cx="2743200" cy="365125"/>
          </a:xfrm>
        </p:spPr>
        <p:txBody>
          <a:bodyPr/>
          <a:lstStyle>
            <a:lvl1pPr algn="l">
              <a:buNone/>
              <a:defRPr>
                <a:solidFill>
                  <a:schemeClr val="tx1"/>
                </a:solidFill>
              </a:defRPr>
            </a:lvl1pPr>
          </a:lstStyle>
          <a:p>
            <a:pPr>
              <a:buNone/>
            </a:pPr>
            <a:fld id="{49AE70B2-8BF9-45C0-BB95-33D1B9D3A85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bg>
      <p:bgPr>
        <a:solidFill>
          <a:srgbClr val="08A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灯片编号占位符 5"/>
          <p:cNvSpPr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/>
          <a:p>
            <a:pPr>
              <a:buNone/>
            </a:pPr>
            <a:fld id="{49AE70B2-8BF9-45C0-BB95-33D1B9D3A85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文本框 14"/>
          <p:cNvSpPr>
            <a:spLocks noGrp="1"/>
          </p:cNvSpPr>
          <p:nvPr/>
        </p:nvSpPr>
        <p:spPr>
          <a:xfrm>
            <a:off x="9763201" y="6305810"/>
            <a:ext cx="2199640" cy="34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智能终端操作系统根社区</a:t>
            </a:r>
            <a:endParaRPr sz="14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直接连接符 15"/>
          <p:cNvSpPr>
            <a:spLocks noGrp="1"/>
          </p:cNvSpPr>
          <p:nvPr/>
        </p:nvSpPr>
        <p:spPr>
          <a:xfrm>
            <a:off x="11291011" y="6623945"/>
            <a:ext cx="537845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7" name="灯片编号占位符 5"/>
          <p:cNvSpPr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pPr>
              <a:buNone/>
            </a:pPr>
            <a:fld id="{49AE70B2-8BF9-45C0-BB95-33D1B9D3A854}" type="slidenum">
              <a:rPr/>
            </a:fld>
            <a:endParaRPr/>
          </a:p>
        </p:txBody>
      </p:sp>
      <p:sp>
        <p:nvSpPr>
          <p:cNvPr id="28" name="文本占位符 9"/>
          <p:cNvSpPr>
            <a:spLocks noGrp="1"/>
          </p:cNvSpPr>
          <p:nvPr>
            <p:ph type="body" idx="13" hasCustomPrompt="1"/>
          </p:nvPr>
        </p:nvSpPr>
        <p:spPr>
          <a:xfrm>
            <a:off x="215067" y="171415"/>
            <a:ext cx="5966068" cy="4461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>
              <a:buNone/>
            </a:pPr>
            <a:r>
              <a:t>单击此处编辑母版文本</a:t>
            </a:r>
          </a:p>
        </p:txBody>
      </p:sp>
      <p:pic>
        <p:nvPicPr>
          <p:cNvPr id="29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425" y="0"/>
            <a:ext cx="2350420" cy="881407"/>
          </a:xfrm>
          <a:prstGeom prst="rect">
            <a:avLst/>
          </a:prstGeom>
        </p:spPr>
      </p:pic>
      <p:sp>
        <p:nvSpPr>
          <p:cNvPr id="30" name="矩形 3"/>
          <p:cNvSpPr>
            <a:spLocks noGrp="1"/>
          </p:cNvSpPr>
          <p:nvPr/>
        </p:nvSpPr>
        <p:spPr>
          <a:xfrm>
            <a:off x="0" y="0"/>
            <a:ext cx="12192000" cy="781177"/>
          </a:xfrm>
          <a:prstGeom prst="rect">
            <a:avLst/>
          </a:prstGeom>
          <a:solidFill>
            <a:srgbClr val="08A8F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pPr>
              <a:buNone/>
            </a:pPr>
            <a:fld id="{49AE70B2-8BF9-45C0-BB95-33D1B9D3A854}" type="slidenum">
              <a:rPr/>
            </a:fld>
            <a:endParaRPr/>
          </a:p>
        </p:txBody>
      </p:sp>
      <p:pic>
        <p:nvPicPr>
          <p:cNvPr id="33" name="图片 3"/>
          <p:cNvPicPr>
            <a:picLocks noChangeAspect="1"/>
          </p:cNvPicPr>
          <p:nvPr/>
        </p:nvPicPr>
        <p:blipFill rotWithShape="1">
          <a:blip r:embed="rId2">
            <a:alphaModFix amt="35000"/>
            <a:biLevel thresh="25000"/>
          </a:blip>
          <a:srcRect t="32381"/>
          <a:stretch>
            <a:fillRect/>
          </a:stretch>
        </p:blipFill>
        <p:spPr>
          <a:xfrm>
            <a:off x="7482780" y="1381934"/>
            <a:ext cx="3830533" cy="4165580"/>
          </a:xfrm>
          <a:prstGeom prst="rect">
            <a:avLst/>
          </a:prstGeom>
        </p:spPr>
      </p:pic>
      <p:sp>
        <p:nvSpPr>
          <p:cNvPr id="35" name="文本框 10"/>
          <p:cNvSpPr>
            <a:spLocks noGrp="1"/>
          </p:cNvSpPr>
          <p:nvPr/>
        </p:nvSpPr>
        <p:spPr>
          <a:xfrm>
            <a:off x="9763201" y="6305810"/>
            <a:ext cx="2199640" cy="34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智能终端操作系统根社区</a:t>
            </a:r>
            <a:endParaRPr sz="14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直接连接符 15"/>
          <p:cNvSpPr>
            <a:spLocks noGrp="1"/>
          </p:cNvSpPr>
          <p:nvPr/>
        </p:nvSpPr>
        <p:spPr>
          <a:xfrm>
            <a:off x="11291011" y="6623945"/>
            <a:ext cx="537845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pic>
        <p:nvPicPr>
          <p:cNvPr id="37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78" y="0"/>
            <a:ext cx="2350420" cy="8814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pPr>
              <a:buNone/>
            </a:pPr>
            <a:fld id="{49AE70B2-8BF9-45C0-BB95-33D1B9D3A854}" type="slidenum">
              <a:rPr/>
            </a:fld>
            <a:endParaRPr/>
          </a:p>
        </p:txBody>
      </p:sp>
      <p:sp>
        <p:nvSpPr>
          <p:cNvPr id="41" name="文本框 2"/>
          <p:cNvSpPr>
            <a:spLocks noGrp="1"/>
          </p:cNvSpPr>
          <p:nvPr/>
        </p:nvSpPr>
        <p:spPr>
          <a:xfrm>
            <a:off x="9763201" y="6305810"/>
            <a:ext cx="2199640" cy="34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智能终端操作系统根社区</a:t>
            </a:r>
            <a:endParaRPr sz="14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直接连接符 15"/>
          <p:cNvSpPr>
            <a:spLocks noGrp="1"/>
          </p:cNvSpPr>
          <p:nvPr/>
        </p:nvSpPr>
        <p:spPr>
          <a:xfrm>
            <a:off x="11291011" y="6623945"/>
            <a:ext cx="537845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3" name="矩形 9"/>
          <p:cNvSpPr>
            <a:spLocks noGrp="1"/>
          </p:cNvSpPr>
          <p:nvPr/>
        </p:nvSpPr>
        <p:spPr>
          <a:xfrm>
            <a:off x="456565" y="1199515"/>
            <a:ext cx="1210588" cy="70788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 i="0" u="none" strike="noStrike" cap="none" spc="0" baseline="0">
                <a:ln>
                  <a:noFill/>
                </a:ln>
                <a:solidFill>
                  <a:srgbClr val="08A8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sz="4000" b="1" i="0" u="none" strike="noStrike" cap="none" spc="0" baseline="0">
              <a:ln>
                <a:noFill/>
              </a:ln>
              <a:solidFill>
                <a:srgbClr val="08A8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文本框 10"/>
          <p:cNvSpPr>
            <a:spLocks noGrp="1"/>
          </p:cNvSpPr>
          <p:nvPr/>
        </p:nvSpPr>
        <p:spPr>
          <a:xfrm>
            <a:off x="481965" y="576640"/>
            <a:ext cx="41249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sz="3200" b="1">
                <a:solidFill>
                  <a:srgbClr val="08A8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CONTENTS</a:t>
            </a:r>
            <a:endParaRPr sz="3200" b="1">
              <a:solidFill>
                <a:srgbClr val="08A8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6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pPr>
              <a:buNone/>
            </a:pPr>
            <a:fld id="{49AE70B2-8BF9-45C0-BB95-33D1B9D3A854}" type="slidenum">
              <a:rPr/>
            </a:fld>
            <a:endParaRPr/>
          </a:p>
        </p:txBody>
      </p:sp>
      <p:sp>
        <p:nvSpPr>
          <p:cNvPr id="48" name="文本框 6"/>
          <p:cNvSpPr>
            <a:spLocks noGrp="1"/>
          </p:cNvSpPr>
          <p:nvPr/>
        </p:nvSpPr>
        <p:spPr>
          <a:xfrm>
            <a:off x="9906635" y="6367145"/>
            <a:ext cx="2199640" cy="34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智能终端操作系统根社区</a:t>
            </a:r>
            <a:endParaRPr sz="14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直接连接符 7"/>
          <p:cNvSpPr>
            <a:spLocks noGrp="1"/>
          </p:cNvSpPr>
          <p:nvPr/>
        </p:nvSpPr>
        <p:spPr>
          <a:xfrm>
            <a:off x="11434445" y="6685280"/>
            <a:ext cx="537845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/>
      <p:sp>
        <p:nvSpPr>
          <p:cNvPr id="51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49AE70B2-8BF9-45C0-BB95-33D1B9D3A85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/>
      <p:sp>
        <p:nvSpPr>
          <p:cNvPr id="53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FABC47A4-756D-490B-A52F-7D9E2C9FC05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/>
      <p:sp>
        <p:nvSpPr>
          <p:cNvPr id="15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49AE70B2-8BF9-45C0-BB95-33D1B9D3A85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">
    <p:spTree>
      <p:nvGrpSpPr>
        <p:cNvPr id="1" name=""/>
        <p:cNvGrpSpPr/>
        <p:nvPr/>
      </p:nvGrpSpPr>
      <p:grpSpPr/>
      <p:sp>
        <p:nvSpPr>
          <p:cNvPr id="17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  <a:fld id="{49AE70B2-8BF9-45C0-BB95-33D1B9D3A85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6F9"/>
            </a:gs>
            <a:gs pos="100000">
              <a:srgbClr val="81BD0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灯片编号占位符 5"/>
          <p:cNvSpPr>
            <a:spLocks noGrp="1"/>
          </p:cNvSpPr>
          <p:nvPr>
            <p:ph type="sldNum" idx="4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200">
                <a:solidFill>
                  <a:schemeClr val="bg1"/>
                </a:solidFill>
                <a:latin typeface="Source Han Sans CN Normal"/>
                <a:ea typeface="Source Han Sans CN Normal"/>
                <a:cs typeface="Source Han Sans CN Normal"/>
              </a:defRPr>
            </a:lvl1pPr>
          </a:lstStyle>
          <a:p>
            <a:pPr>
              <a:buNone/>
            </a:pPr>
            <a:fld id="{49AE70B2-8BF9-45C0-BB95-33D1B9D3A854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4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4"/>
          <p:cNvSpPr>
            <a:spLocks noGrp="1"/>
          </p:cNvSpPr>
          <p:nvPr/>
        </p:nvSpPr>
        <p:spPr>
          <a:xfrm>
            <a:off x="3417888" y="5226665"/>
            <a:ext cx="5356225" cy="6394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 algn="ctr">
              <a:defRPr sz="160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60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60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60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60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60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60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60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60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60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队名：___</a:t>
            </a:r>
            <a:r>
              <a:rPr lang="zh-CN" sz="1600" u="sng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真风向队</a:t>
            </a:r>
            <a:r>
              <a:rPr sz="160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_______</a:t>
            </a: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2026年10月30日</a:t>
            </a:r>
            <a:endParaRPr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6"/>
          <p:cNvSpPr>
            <a:spLocks noGrp="1"/>
          </p:cNvSpPr>
          <p:nvPr/>
        </p:nvSpPr>
        <p:spPr>
          <a:xfrm>
            <a:off x="1714500" y="1952625"/>
            <a:ext cx="8763000" cy="571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 algn="ctr">
              <a:defRPr sz="3750" b="1">
                <a:solidFill>
                  <a:srgbClr val="08A8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4800" b="1">
                <a:solidFill>
                  <a:srgbClr val="08A8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4800" b="1">
                <a:solidFill>
                  <a:srgbClr val="08A8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4800" b="1">
                <a:solidFill>
                  <a:srgbClr val="08A8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4800" b="1">
                <a:solidFill>
                  <a:srgbClr val="08A8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4800" b="1">
                <a:solidFill>
                  <a:srgbClr val="08A8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4800" b="1">
                <a:solidFill>
                  <a:srgbClr val="08A8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4800" b="1">
                <a:solidFill>
                  <a:srgbClr val="08A8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4800" b="1">
                <a:solidFill>
                  <a:srgbClr val="08A8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4800" b="1">
                <a:solidFill>
                  <a:srgbClr val="08A8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None/>
              <a:defRPr sz="4800" b="1">
                <a:solidFill>
                  <a:srgbClr val="08A8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750" b="1">
                <a:solidFill>
                  <a:srgbClr val="08A8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OH大学生创新大赛赛道三作品提交</a:t>
            </a:r>
            <a:endParaRPr sz="4800" b="1">
              <a:solidFill>
                <a:srgbClr val="08A8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10"/>
          <p:cNvSpPr>
            <a:spLocks noGrp="1"/>
          </p:cNvSpPr>
          <p:nvPr/>
        </p:nvSpPr>
        <p:spPr>
          <a:xfrm>
            <a:off x="5715000" y="3000375"/>
            <a:ext cx="2286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 algn="l">
              <a:defRPr sz="3900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900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900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900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900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900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900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900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900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900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  <a:buNone/>
              <a:defRPr sz="3900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900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墨语</a:t>
            </a:r>
            <a:endParaRPr sz="2800">
              <a:solidFill>
                <a:srgbClr val="08A8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2933700"/>
            <a:ext cx="838200" cy="838200"/>
          </a:xfrm>
          <a:prstGeom prst="rect">
            <a:avLst/>
          </a:prstGeom>
        </p:spPr>
      </p:pic>
      <p:sp>
        <p:nvSpPr>
          <p:cNvPr id="6" name="课程资料研读与本地复习"/>
          <p:cNvSpPr>
            <a:spLocks noGrp="1"/>
          </p:cNvSpPr>
          <p:nvPr/>
        </p:nvSpPr>
        <p:spPr>
          <a:xfrm>
            <a:off x="2952750" y="4038600"/>
            <a:ext cx="628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21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21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21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21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21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21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21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21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21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22000"/>
              </a:lnSpc>
              <a:buNone/>
              <a:defRPr sz="21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课程资料研读与本地复习</a:t>
            </a:r>
            <a:endParaRPr sz="2100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圆角矩形 26"/>
          <p:cNvSpPr>
            <a:spLocks noGrp="1"/>
          </p:cNvSpPr>
          <p:nvPr/>
        </p:nvSpPr>
        <p:spPr>
          <a:xfrm>
            <a:off x="2741964" y="2138212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27"/>
          <p:cNvSpPr>
            <a:spLocks noGrp="1"/>
          </p:cNvSpPr>
          <p:nvPr/>
        </p:nvSpPr>
        <p:spPr>
          <a:xfrm>
            <a:off x="3585244" y="3076107"/>
            <a:ext cx="6855091" cy="71374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应用核心功能</a:t>
            </a:r>
            <a:endParaRPr sz="2400" b="1">
              <a:ln>
                <a:noFill/>
              </a:ln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28"/>
          <p:cNvSpPr>
            <a:spLocks noGrp="1"/>
          </p:cNvSpPr>
          <p:nvPr/>
        </p:nvSpPr>
        <p:spPr>
          <a:xfrm>
            <a:off x="2734344" y="3063407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29"/>
          <p:cNvSpPr>
            <a:spLocks noGrp="1"/>
          </p:cNvSpPr>
          <p:nvPr/>
        </p:nvSpPr>
        <p:spPr>
          <a:xfrm>
            <a:off x="3585244" y="4001302"/>
            <a:ext cx="6855091" cy="71374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创新性</a:t>
            </a:r>
            <a:endParaRPr sz="2400" b="1">
              <a:ln>
                <a:noFill/>
              </a:ln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30"/>
          <p:cNvSpPr>
            <a:spLocks noGrp="1"/>
          </p:cNvSpPr>
          <p:nvPr/>
        </p:nvSpPr>
        <p:spPr>
          <a:xfrm>
            <a:off x="2734344" y="3988602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44"/>
          <p:cNvSpPr>
            <a:spLocks noGrp="1"/>
          </p:cNvSpPr>
          <p:nvPr/>
        </p:nvSpPr>
        <p:spPr>
          <a:xfrm>
            <a:off x="3597944" y="2138212"/>
            <a:ext cx="6855091" cy="71374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创作简介</a:t>
            </a:r>
            <a:endParaRPr sz="2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灯片编号占位符 2"/>
          <p:cNvSpPr>
            <a:spLocks noGrp="1"/>
          </p:cNvSpPr>
          <p:nvPr>
            <p:ph type="sldNum" idx="12"/>
          </p:nvPr>
        </p:nvSpPr>
        <p:spPr/>
        <p:txBody>
          <a:bodyPr lIns="0" tIns="0" rIns="0" bIns="0"/>
          <a:lstStyle>
            <a:defPPr algn="ctr"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fld id="{E2598689-54C9-18A7-3A19-ED76AA08988F}" type="slidenum">
              <a: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sz="105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29"/>
          <p:cNvSpPr>
            <a:spLocks noGrp="1"/>
          </p:cNvSpPr>
          <p:nvPr/>
        </p:nvSpPr>
        <p:spPr>
          <a:xfrm>
            <a:off x="3597944" y="4913797"/>
            <a:ext cx="6855091" cy="71374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ln>
                  <a:noFill/>
                </a:ln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商业价值</a:t>
            </a:r>
            <a:endParaRPr sz="2400" b="1">
              <a:ln>
                <a:noFill/>
              </a:ln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30"/>
          <p:cNvSpPr>
            <a:spLocks noGrp="1"/>
          </p:cNvSpPr>
          <p:nvPr/>
        </p:nvSpPr>
        <p:spPr>
          <a:xfrm>
            <a:off x="2747044" y="4901097"/>
            <a:ext cx="713740" cy="7137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项目缘起与两名成员分工"/>
          <p:cNvSpPr>
            <a:spLocks noGrp="1"/>
          </p:cNvSpPr>
          <p:nvPr/>
        </p:nvSpPr>
        <p:spPr>
          <a:xfrm>
            <a:off x="6896100" y="2409825"/>
            <a:ext cx="323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项目缘起与两名成员分工</a:t>
            </a:r>
            <a:endParaRPr sz="1350" b="0">
              <a:solidFill>
                <a:srgbClr val="626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资料管理、书写、复习与静态演示"/>
          <p:cNvSpPr>
            <a:spLocks noGrp="1"/>
          </p:cNvSpPr>
          <p:nvPr/>
        </p:nvSpPr>
        <p:spPr>
          <a:xfrm>
            <a:off x="6896100" y="3343275"/>
            <a:ext cx="323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资料管理、书写、复习与静态演示</a:t>
            </a:r>
            <a:endParaRPr sz="1350" b="0">
              <a:solidFill>
                <a:srgbClr val="626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设计取舍、鸿蒙实现与接入边界"/>
          <p:cNvSpPr>
            <a:spLocks noGrp="1"/>
          </p:cNvSpPr>
          <p:nvPr/>
        </p:nvSpPr>
        <p:spPr>
          <a:xfrm>
            <a:off x="6896100" y="4276725"/>
            <a:ext cx="323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产品设计、鸿蒙实现与功能规划</a:t>
            </a:r>
            <a:endParaRPr sz="1350" b="0">
              <a:solidFill>
                <a:srgbClr val="626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目标用户、商业路径与阶段预期"/>
          <p:cNvSpPr>
            <a:spLocks noGrp="1"/>
          </p:cNvSpPr>
          <p:nvPr/>
        </p:nvSpPr>
        <p:spPr>
          <a:xfrm>
            <a:off x="6896100" y="5210175"/>
            <a:ext cx="323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目标用户、商业路径与阶段预期</a:t>
            </a:r>
            <a:endParaRPr sz="1350" b="0">
              <a:solidFill>
                <a:srgbClr val="626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灯片编号占位符 1"/>
          <p:cNvSpPr>
            <a:spLocks noGrp="1"/>
          </p:cNvSpPr>
          <p:nvPr>
            <p:ph type="sldNum" idx="12"/>
          </p:nvPr>
        </p:nvSpPr>
        <p:spPr/>
        <p:txBody>
          <a:bodyPr lIns="0" tIns="0" rIns="0" bIns="0"/>
          <a:lstStyle>
            <a:defPPr algn="ctr"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fld id="{202359C0-8A7A-196E-DD58-8E6569619F09}" type="slidenum">
              <a: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占位符 2"/>
          <p:cNvSpPr>
            <a:spLocks noGrp="1"/>
          </p:cNvSpPr>
          <p:nvPr>
            <p:ph type="body" idx="13"/>
          </p:nvPr>
        </p:nvSpPr>
        <p:spPr>
          <a:xfrm>
            <a:off x="285750" y="190500"/>
            <a:ext cx="8858250" cy="514350"/>
          </a:xfrm>
        </p:spPr>
        <p:txBody>
          <a:bodyPr lIns="0" tIns="0" rIns="0" bIns="0" anchor="ctr">
            <a:noAutofit/>
          </a:bodyPr>
          <a:lstStyle>
            <a:defPPr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创作简介</a:t>
            </a:r>
            <a:endParaRPr sz="28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4"/>
          <p:cNvSpPr>
            <a:spLocks noGrp="1"/>
          </p:cNvSpPr>
          <p:nvPr/>
        </p:nvSpPr>
        <p:spPr>
          <a:xfrm>
            <a:off x="681316" y="2986110"/>
            <a:ext cx="3012141" cy="408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4"/>
          <p:cNvSpPr>
            <a:spLocks noGrp="1"/>
          </p:cNvSpPr>
          <p:nvPr/>
        </p:nvSpPr>
        <p:spPr>
          <a:xfrm>
            <a:off x="681316" y="4569388"/>
            <a:ext cx="3012141" cy="408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4"/>
          <p:cNvSpPr>
            <a:spLocks noGrp="1"/>
          </p:cNvSpPr>
          <p:nvPr/>
        </p:nvSpPr>
        <p:spPr>
          <a:xfrm>
            <a:off x="681316" y="950500"/>
            <a:ext cx="8516472" cy="408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一门课程中的资料、理解与复习"/>
          <p:cNvSpPr>
            <a:spLocks noGrp="1"/>
          </p:cNvSpPr>
          <p:nvPr/>
        </p:nvSpPr>
        <p:spPr>
          <a:xfrm>
            <a:off x="685800" y="1285875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5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5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5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5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5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5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5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5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5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25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一门课程中的资料、理解与复习</a:t>
            </a:r>
            <a:endParaRPr sz="2550" b="1">
              <a:solidFill>
                <a:srgbClr val="6552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为什么做墨语"/>
          <p:cNvSpPr>
            <a:spLocks noGrp="1"/>
          </p:cNvSpPr>
          <p:nvPr/>
        </p:nvSpPr>
        <p:spPr>
          <a:xfrm>
            <a:off x="685800" y="2238375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为什么做墨语</a:t>
            </a:r>
            <a:endParaRPr sz="1875" b="1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一门课程常有课本、课件和课堂笔记。阅"/>
          <p:cNvSpPr>
            <a:spLocks noGrp="1"/>
          </p:cNvSpPr>
          <p:nvPr/>
        </p:nvSpPr>
        <p:spPr>
          <a:xfrm>
            <a:off x="685800" y="2724150"/>
            <a:ext cx="10572750" cy="1200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一门课程常有课本、课件和课堂笔记。阅读时留下的疑问，到了复习阶段还需要找到原文。墨语以课程资料为中心，连接对照阅读、手写记录、文字整理与手动题卡，让个人理解保留依据，也能继续修改。</a:t>
            </a:r>
            <a:endParaRPr sz="1800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典型使用场景"/>
          <p:cNvSpPr>
            <a:spLocks noGrp="1"/>
          </p:cNvSpPr>
          <p:nvPr/>
        </p:nvSpPr>
        <p:spPr>
          <a:xfrm>
            <a:off x="685800" y="4343400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典型使用场景</a:t>
            </a:r>
            <a:endParaRPr sz="1875" b="1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课前导入资料，课中对照批注，课后整理"/>
          <p:cNvSpPr>
            <a:spLocks noGrp="1"/>
          </p:cNvSpPr>
          <p:nvPr/>
        </p:nvSpPr>
        <p:spPr>
          <a:xfrm>
            <a:off x="685800" y="4810125"/>
            <a:ext cx="105727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课前导入资料，课中对照批注，课后整理记录，考前建立题卡并回看原文。</a:t>
            </a:r>
            <a:endParaRPr sz="1800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参赛主体：1.1.1 本地应用。预期"/>
          <p:cNvSpPr>
            <a:spLocks noGrp="1"/>
          </p:cNvSpPr>
          <p:nvPr/>
        </p:nvSpPr>
        <p:spPr>
          <a:xfrm>
            <a:off x="685800" y="59150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350" b="0">
              <a:solidFill>
                <a:srgbClr val="626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灯片编号占位符 1"/>
          <p:cNvSpPr>
            <a:spLocks noGrp="1"/>
          </p:cNvSpPr>
          <p:nvPr>
            <p:ph type="sldNum" idx="12"/>
          </p:nvPr>
        </p:nvSpPr>
        <p:spPr/>
        <p:txBody>
          <a:bodyPr lIns="0" tIns="0" rIns="0" bIns="0"/>
          <a:lstStyle>
            <a:defPPr algn="ctr"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fld id="{EFD6AB9A-5F9E-5F59-51AB-3C8734130965}" type="slidenum">
              <a: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占位符 2"/>
          <p:cNvSpPr>
            <a:spLocks noGrp="1"/>
          </p:cNvSpPr>
          <p:nvPr>
            <p:ph type="body" idx="13"/>
          </p:nvPr>
        </p:nvSpPr>
        <p:spPr>
          <a:xfrm>
            <a:off x="285750" y="190500"/>
            <a:ext cx="8858250" cy="514350"/>
          </a:xfrm>
        </p:spPr>
        <p:txBody>
          <a:bodyPr lIns="0" tIns="0" rIns="0" bIns="0" anchor="ctr">
            <a:noAutofit/>
          </a:bodyPr>
          <a:lstStyle>
            <a:defPPr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团队与执行分工</a:t>
            </a:r>
            <a:endParaRPr sz="28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4"/>
          <p:cNvSpPr>
            <a:spLocks noGrp="1"/>
          </p:cNvSpPr>
          <p:nvPr/>
        </p:nvSpPr>
        <p:spPr>
          <a:xfrm>
            <a:off x="681316" y="2986110"/>
            <a:ext cx="3012141" cy="408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4"/>
          <p:cNvSpPr>
            <a:spLocks noGrp="1"/>
          </p:cNvSpPr>
          <p:nvPr/>
        </p:nvSpPr>
        <p:spPr>
          <a:xfrm>
            <a:off x="681316" y="4569388"/>
            <a:ext cx="3012141" cy="408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4"/>
          <p:cNvSpPr>
            <a:spLocks noGrp="1"/>
          </p:cNvSpPr>
          <p:nvPr/>
        </p:nvSpPr>
        <p:spPr>
          <a:xfrm>
            <a:off x="681316" y="950500"/>
            <a:ext cx="8516472" cy="408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两名成员共同完成产品迭代"/>
          <p:cNvSpPr>
            <a:spLocks noGrp="1"/>
          </p:cNvSpPr>
          <p:nvPr/>
        </p:nvSpPr>
        <p:spPr>
          <a:xfrm>
            <a:off x="685800" y="1238250"/>
            <a:ext cx="10477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40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40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40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40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40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40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40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40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40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240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两名成员的职责安排</a:t>
            </a:r>
            <a:endParaRPr sz="2400" b="1">
              <a:solidFill>
                <a:srgbClr val="6552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成员一  电子信息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85800" y="20764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21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成员一  电子信息</a:t>
            </a:r>
            <a:r>
              <a:rPr lang="zh-CN" sz="21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工程专业</a:t>
            </a:r>
            <a:endParaRPr lang="zh-CN" sz="2100" b="1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姓名：_______________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85800" y="2657475"/>
            <a:ext cx="4953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姓名：____</a:t>
            </a:r>
            <a:r>
              <a:rPr lang="zh-CN" sz="1725" b="0" u="sng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宋瑞博</a:t>
            </a:r>
            <a:r>
              <a: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____________</a:t>
            </a:r>
            <a:endParaRPr sz="1725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学校：__</a:t>
            </a:r>
            <a:r>
              <a:rPr lang="zh-CN" sz="1725" b="0" u="sng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电子科技大学</a:t>
            </a:r>
            <a:r>
              <a: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______________</a:t>
            </a:r>
            <a:endParaRPr sz="1725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交互与设备验证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85800" y="3676650"/>
            <a:ext cx="4953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交互与设备验证</a:t>
            </a:r>
            <a:endParaRPr sz="1875" b="1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整理课程使用场景，参与交互设计，负责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85800" y="4143375"/>
            <a:ext cx="4762500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整理课程使用场景，参与交互设计，负责手机和平板测试、问题复现及反馈记录。</a:t>
            </a:r>
            <a:endParaRPr sz="1725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成员二  计算机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400800" y="20764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21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成员二  计算机</a:t>
            </a:r>
            <a:r>
              <a:rPr lang="zh-CN" sz="21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</a:t>
            </a:r>
            <a:endParaRPr lang="zh-CN" sz="2100" b="1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姓名：_______________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400800" y="2657475"/>
            <a:ext cx="4953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姓名：__</a:t>
            </a:r>
            <a:r>
              <a:rPr lang="zh-CN" sz="1725" b="0" u="sng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孟博航</a:t>
            </a:r>
            <a:r>
              <a: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_______</a:t>
            </a:r>
            <a:endParaRPr sz="1725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学校：______</a:t>
            </a:r>
            <a:r>
              <a:rPr lang="zh-CN" sz="1725" b="0" u="sng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厦门大学</a:t>
            </a:r>
            <a:r>
              <a:rPr sz="1725" b="0" u="sng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_</a:t>
            </a:r>
            <a:r>
              <a: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_________</a:t>
            </a:r>
            <a:endParaRPr sz="1725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应用研发与数据可靠性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400800" y="3676650"/>
            <a:ext cx="4953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应用研发与数据可靠性</a:t>
            </a:r>
            <a:endParaRPr sz="1875" b="1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实现应用功能，完善存储与自动检查。&#10;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400800" y="4143375"/>
            <a:ext cx="4762500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负责应用研发、本地存储与质量检查。</a:t>
            </a:r>
            <a:endParaRPr sz="1725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完善功能体验，维护产品与技术文档。</a:t>
            </a:r>
            <a:endParaRPr sz="1725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队名：_______________"/>
          <p:cNvSpPr>
            <a:spLocks noGrp="1"/>
          </p:cNvSpPr>
          <p:nvPr/>
        </p:nvSpPr>
        <p:spPr>
          <a:xfrm>
            <a:off x="685800" y="5534025"/>
            <a:ext cx="10820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队名：_____</a:t>
            </a:r>
            <a:r>
              <a:rPr lang="zh-CN" sz="1600" b="0" u="sng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真风向队</a:t>
            </a:r>
            <a:r>
              <a: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______    队长：____</a:t>
            </a:r>
            <a:r>
              <a:rPr lang="zh-CN" sz="1600" b="0" u="sng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宋瑞博</a:t>
            </a:r>
            <a:r>
              <a:rPr sz="1600" b="0" u="sng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_</a:t>
            </a:r>
            <a:r>
              <a: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_______    指导老师：无</a:t>
            </a:r>
            <a:endParaRPr sz="1600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联系电话：_____________"/>
          <p:cNvSpPr>
            <a:spLocks noGrp="1"/>
          </p:cNvSpPr>
          <p:nvPr/>
        </p:nvSpPr>
        <p:spPr>
          <a:xfrm>
            <a:off x="685800" y="5981700"/>
            <a:ext cx="10820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联系电话：__</a:t>
            </a:r>
            <a:r>
              <a:rPr lang="en-US" sz="1600" b="0" u="sng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15756521610</a:t>
            </a:r>
            <a:r>
              <a: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______________    微信：____</a:t>
            </a:r>
            <a:r>
              <a:rPr lang="en-US" sz="1600" b="0" u="sng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r15939430542</a:t>
            </a:r>
            <a:r>
              <a: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____________</a:t>
            </a:r>
            <a:endParaRPr sz="1600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灯片编号占位符 1"/>
          <p:cNvSpPr>
            <a:spLocks noGrp="1"/>
          </p:cNvSpPr>
          <p:nvPr>
            <p:ph type="sldNum" idx="12"/>
          </p:nvPr>
        </p:nvSpPr>
        <p:spPr/>
        <p:txBody>
          <a:bodyPr lIns="0" tIns="0" rIns="0" bIns="0"/>
          <a:lstStyle>
            <a:defPPr algn="ctr"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fld id="{EE5B3003-2C54-13C6-9832-7637201064DE}" type="slidenum">
              <a: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占位符 2"/>
          <p:cNvSpPr>
            <a:spLocks noGrp="1"/>
          </p:cNvSpPr>
          <p:nvPr>
            <p:ph type="body" idx="13"/>
          </p:nvPr>
        </p:nvSpPr>
        <p:spPr>
          <a:xfrm>
            <a:off x="285750" y="190500"/>
            <a:ext cx="8858250" cy="514350"/>
          </a:xfrm>
        </p:spPr>
        <p:txBody>
          <a:bodyPr lIns="0" tIns="0" rIns="0" bIns="0" anchor="ctr">
            <a:noAutofit/>
          </a:bodyPr>
          <a:lstStyle>
            <a:defPPr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应用核心功能  课程资料与记录</a:t>
            </a:r>
            <a:endParaRPr sz="3000" b="1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3"/>
          <p:cNvSpPr>
            <a:spLocks noGrp="1"/>
          </p:cNvSpPr>
          <p:nvPr/>
        </p:nvSpPr>
        <p:spPr>
          <a:xfrm>
            <a:off x="600634" y="1109012"/>
            <a:ext cx="9010957" cy="408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33500"/>
            <a:ext cx="6572250" cy="4381500"/>
          </a:xfrm>
          <a:prstGeom prst="rect">
            <a:avLst/>
          </a:prstGeom>
        </p:spPr>
      </p:pic>
      <p:sp>
        <p:nvSpPr>
          <p:cNvPr id="26" name="资料按课程组织"/>
          <p:cNvSpPr>
            <a:spLocks noGrp="1"/>
          </p:cNvSpPr>
          <p:nvPr/>
        </p:nvSpPr>
        <p:spPr>
          <a:xfrm>
            <a:off x="7620000" y="1390650"/>
            <a:ext cx="3810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资料按课程组织</a:t>
            </a:r>
            <a:endParaRPr sz="1875" b="1">
              <a:solidFill>
                <a:srgbClr val="6552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课本、课件与文字记录按项目归类，通过"/>
          <p:cNvSpPr>
            <a:spLocks noGrp="1"/>
          </p:cNvSpPr>
          <p:nvPr/>
        </p:nvSpPr>
        <p:spPr>
          <a:xfrm>
            <a:off x="7620000" y="1809750"/>
            <a:ext cx="3810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课本、课件与文字记录按项目归类，通过标签和搜索定位内容。</a:t>
            </a:r>
            <a:endParaRPr sz="1600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理解保留上下文"/>
          <p:cNvSpPr>
            <a:spLocks noGrp="1"/>
          </p:cNvSpPr>
          <p:nvPr/>
        </p:nvSpPr>
        <p:spPr>
          <a:xfrm>
            <a:off x="7620000" y="2847975"/>
            <a:ext cx="3810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理解保留上下文</a:t>
            </a:r>
            <a:endParaRPr sz="1875" b="1">
              <a:solidFill>
                <a:srgbClr val="6552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在文字记录中写下解释和疑问，用双链关"/>
          <p:cNvSpPr>
            <a:spLocks noGrp="1"/>
          </p:cNvSpPr>
          <p:nvPr/>
        </p:nvSpPr>
        <p:spPr>
          <a:xfrm>
            <a:off x="7620000" y="3267075"/>
            <a:ext cx="3810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在文字记录中写下解释和疑问，用双链关联需要回看的资料。</a:t>
            </a:r>
            <a:endParaRPr sz="1600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本地保存与主动迁移"/>
          <p:cNvSpPr>
            <a:spLocks noGrp="1"/>
          </p:cNvSpPr>
          <p:nvPr/>
        </p:nvSpPr>
        <p:spPr>
          <a:xfrm>
            <a:off x="7620000" y="4305300"/>
            <a:ext cx="3810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本地保存与主动迁移</a:t>
            </a:r>
            <a:endParaRPr sz="1875" b="1">
              <a:solidFill>
                <a:srgbClr val="6552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无需账号。通过备份和系统分享保存或传"/>
          <p:cNvSpPr>
            <a:spLocks noGrp="1"/>
          </p:cNvSpPr>
          <p:nvPr/>
        </p:nvSpPr>
        <p:spPr>
          <a:xfrm>
            <a:off x="7620000" y="4724400"/>
            <a:ext cx="3810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无需账号，可明文备份所选资料及相关记录。日历待办与回收站不在备份范围内。</a:t>
            </a:r>
            <a:endParaRPr sz="1600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历史界面记录：2026-10-17。"/>
          <p:cNvSpPr>
            <a:spLocks noGrp="1"/>
          </p:cNvSpPr>
          <p:nvPr/>
        </p:nvSpPr>
        <p:spPr>
          <a:xfrm>
            <a:off x="685800" y="6010275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300" b="0">
              <a:solidFill>
                <a:srgbClr val="626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灯片编号占位符 1"/>
          <p:cNvSpPr>
            <a:spLocks noGrp="1"/>
          </p:cNvSpPr>
          <p:nvPr>
            <p:ph type="sldNum" idx="12"/>
          </p:nvPr>
        </p:nvSpPr>
        <p:spPr/>
        <p:txBody>
          <a:bodyPr lIns="0" tIns="0" rIns="0" bIns="0"/>
          <a:lstStyle>
            <a:defPPr algn="ctr"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fld id="{8C630A04-5A25-9E0C-9436-126091DB86B3}" type="slidenum">
              <a: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占位符 2"/>
          <p:cNvSpPr>
            <a:spLocks noGrp="1"/>
          </p:cNvSpPr>
          <p:nvPr>
            <p:ph type="body" idx="13"/>
          </p:nvPr>
        </p:nvSpPr>
        <p:spPr>
          <a:xfrm>
            <a:off x="285750" y="190500"/>
            <a:ext cx="8858250" cy="514350"/>
          </a:xfrm>
        </p:spPr>
        <p:txBody>
          <a:bodyPr lIns="0" tIns="0" rIns="0" bIns="0" anchor="ctr">
            <a:noAutofit/>
          </a:bodyPr>
          <a:lstStyle>
            <a:defPPr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应用核心功能  阅读与书写示意</a:t>
            </a:r>
            <a:endParaRPr sz="3000" b="1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3"/>
          <p:cNvSpPr>
            <a:spLocks noGrp="1"/>
          </p:cNvSpPr>
          <p:nvPr/>
        </p:nvSpPr>
        <p:spPr>
          <a:xfrm>
            <a:off x="600634" y="1109012"/>
            <a:ext cx="9010957" cy="408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33500"/>
            <a:ext cx="6572250" cy="4381500"/>
          </a:xfrm>
          <a:prstGeom prst="rect">
            <a:avLst/>
          </a:prstGeom>
        </p:spPr>
      </p:pic>
      <p:sp>
        <p:nvSpPr>
          <p:cNvPr id="26" name="对照阅读"/>
          <p:cNvSpPr>
            <a:spLocks noGrp="1"/>
          </p:cNvSpPr>
          <p:nvPr/>
        </p:nvSpPr>
        <p:spPr>
          <a:xfrm>
            <a:off x="7620000" y="1390650"/>
            <a:ext cx="3810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对照阅读</a:t>
            </a:r>
            <a:endParaRPr sz="1875" b="1">
              <a:solidFill>
                <a:srgbClr val="6552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资料标签与双文档工作台支持对照课件、"/>
          <p:cNvSpPr>
            <a:spLocks noGrp="1"/>
          </p:cNvSpPr>
          <p:nvPr/>
        </p:nvSpPr>
        <p:spPr>
          <a:xfrm>
            <a:off x="7620000" y="1809750"/>
            <a:ext cx="3810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资料标签与双文档工作台支持对照课件、课本和个人记录。</a:t>
            </a:r>
            <a:endParaRPr sz="1600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原件与笔迹分开保存"/>
          <p:cNvSpPr>
            <a:spLocks noGrp="1"/>
          </p:cNvSpPr>
          <p:nvPr/>
        </p:nvSpPr>
        <p:spPr>
          <a:xfrm>
            <a:off x="7620000" y="2847975"/>
            <a:ext cx="3810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原件与笔迹分开保存</a:t>
            </a:r>
            <a:endParaRPr sz="1875" b="1">
              <a:solidFill>
                <a:srgbClr val="6552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手写批注和随堂稿纸单独保存，支持撤销"/>
          <p:cNvSpPr>
            <a:spLocks noGrp="1"/>
          </p:cNvSpPr>
          <p:nvPr/>
        </p:nvSpPr>
        <p:spPr>
          <a:xfrm>
            <a:off x="7620000" y="3267075"/>
            <a:ext cx="3810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手写批注和随堂稿纸单独保存，支持撤销重做与区域、整笔橡皮。</a:t>
            </a:r>
            <a:endParaRPr sz="1600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识别结果经校对再整理"/>
          <p:cNvSpPr>
            <a:spLocks noGrp="1"/>
          </p:cNvSpPr>
          <p:nvPr/>
        </p:nvSpPr>
        <p:spPr>
          <a:xfrm>
            <a:off x="7620000" y="4305300"/>
            <a:ext cx="3810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识别结果经校对再整理</a:t>
            </a:r>
            <a:endParaRPr sz="1875" b="1">
              <a:solidFill>
                <a:srgbClr val="6552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调用设备支持的系统文字识别，用户核对"/>
          <p:cNvSpPr>
            <a:spLocks noGrp="1"/>
          </p:cNvSpPr>
          <p:nvPr/>
        </p:nvSpPr>
        <p:spPr>
          <a:xfrm>
            <a:off x="7620000" y="4724400"/>
            <a:ext cx="3810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调用设备支持的系统文字识别，用户核对后再形成文字记录。</a:t>
            </a:r>
            <a:endParaRPr sz="1600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展示示意：外部 AI 工具整理了历史"/>
          <p:cNvSpPr>
            <a:spLocks noGrp="1"/>
          </p:cNvSpPr>
          <p:nvPr/>
        </p:nvSpPr>
        <p:spPr>
          <a:xfrm>
            <a:off x="685800" y="6010275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300" b="0">
              <a:solidFill>
                <a:srgbClr val="626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灯片编号占位符 1"/>
          <p:cNvSpPr>
            <a:spLocks noGrp="1"/>
          </p:cNvSpPr>
          <p:nvPr>
            <p:ph type="sldNum" idx="12"/>
          </p:nvPr>
        </p:nvSpPr>
        <p:spPr/>
        <p:txBody>
          <a:bodyPr lIns="0" tIns="0" rIns="0" bIns="0"/>
          <a:lstStyle>
            <a:defPPr algn="ctr"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fld id="{D3D7D1C8-AE23-AA48-DF65-C742588DBE47}" type="slidenum">
              <a: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占位符 2"/>
          <p:cNvSpPr>
            <a:spLocks noGrp="1"/>
          </p:cNvSpPr>
          <p:nvPr>
            <p:ph type="body" idx="13"/>
          </p:nvPr>
        </p:nvSpPr>
        <p:spPr>
          <a:xfrm>
            <a:off x="285750" y="190500"/>
            <a:ext cx="8858250" cy="514350"/>
          </a:xfrm>
        </p:spPr>
        <p:txBody>
          <a:bodyPr lIns="0" tIns="0" rIns="0" bIns="0" anchor="ctr">
            <a:noAutofit/>
          </a:bodyPr>
          <a:lstStyle>
            <a:defPPr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应用核心功能  整理与复习</a:t>
            </a:r>
            <a:endParaRPr sz="3000" b="1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3"/>
          <p:cNvSpPr>
            <a:spLocks noGrp="1"/>
          </p:cNvSpPr>
          <p:nvPr/>
        </p:nvSpPr>
        <p:spPr>
          <a:xfrm>
            <a:off x="600634" y="1109012"/>
            <a:ext cx="9010957" cy="408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33500"/>
            <a:ext cx="6572250" cy="4381500"/>
          </a:xfrm>
          <a:prstGeom prst="rect">
            <a:avLst/>
          </a:prstGeom>
        </p:spPr>
      </p:pic>
      <p:sp>
        <p:nvSpPr>
          <p:cNvPr id="26" name="记录与资料保持联系"/>
          <p:cNvSpPr>
            <a:spLocks noGrp="1"/>
          </p:cNvSpPr>
          <p:nvPr/>
        </p:nvSpPr>
        <p:spPr>
          <a:xfrm>
            <a:off x="7620000" y="1390650"/>
            <a:ext cx="3810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记录与资料保持联系</a:t>
            </a:r>
            <a:endParaRPr sz="1875" b="1">
              <a:solidFill>
                <a:srgbClr val="6552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双链和图谱帮助回访已有内容，避免整理"/>
          <p:cNvSpPr>
            <a:spLocks noGrp="1"/>
          </p:cNvSpPr>
          <p:nvPr/>
        </p:nvSpPr>
        <p:spPr>
          <a:xfrm>
            <a:off x="7620000" y="1809750"/>
            <a:ext cx="3810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双链和图谱帮助回访已有内容，避免整理后失去上下文。</a:t>
            </a:r>
            <a:endParaRPr sz="1600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用户手动建立题卡"/>
          <p:cNvSpPr>
            <a:spLocks noGrp="1"/>
          </p:cNvSpPr>
          <p:nvPr/>
        </p:nvSpPr>
        <p:spPr>
          <a:xfrm>
            <a:off x="7620000" y="2847975"/>
            <a:ext cx="3810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用户手动建立题卡</a:t>
            </a:r>
            <a:endParaRPr sz="1875" b="1">
              <a:solidFill>
                <a:srgbClr val="6552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围绕资料创建自测题，按自评反馈安排后"/>
          <p:cNvSpPr>
            <a:spLocks noGrp="1"/>
          </p:cNvSpPr>
          <p:nvPr/>
        </p:nvSpPr>
        <p:spPr>
          <a:xfrm>
            <a:off x="7620000" y="3267075"/>
            <a:ext cx="3810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围绕资料创建自测题，按自评反馈安排后续复习。</a:t>
            </a:r>
            <a:endParaRPr sz="1600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到期待巩固题优先"/>
          <p:cNvSpPr>
            <a:spLocks noGrp="1"/>
          </p:cNvSpPr>
          <p:nvPr/>
        </p:nvSpPr>
        <p:spPr>
          <a:xfrm>
            <a:off x="7620000" y="4305300"/>
            <a:ext cx="3810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到期待巩固题优先</a:t>
            </a:r>
            <a:endParaRPr sz="1875" b="1">
              <a:solidFill>
                <a:srgbClr val="6552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新增学习概况、弱项筛选和题卡编辑，复"/>
          <p:cNvSpPr>
            <a:spLocks noGrp="1"/>
          </p:cNvSpPr>
          <p:nvPr/>
        </p:nvSpPr>
        <p:spPr>
          <a:xfrm>
            <a:off x="7620000" y="4724400"/>
            <a:ext cx="3810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新增学习概况、弱项筛选和题卡编辑，复用本地记录。</a:t>
            </a:r>
            <a:endParaRPr sz="1600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左图为 2026-10-17 历史资"/>
          <p:cNvSpPr>
            <a:spLocks noGrp="1"/>
          </p:cNvSpPr>
          <p:nvPr/>
        </p:nvSpPr>
        <p:spPr>
          <a:xfrm>
            <a:off x="685800" y="6010275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300" b="0">
              <a:solidFill>
                <a:srgbClr val="626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" name="灯片编号占位符 1"/>
          <p:cNvSpPr>
            <a:spLocks noGrp="1"/>
          </p:cNvSpPr>
          <p:nvPr>
            <p:ph type="sldNum" idx="12"/>
          </p:nvPr>
        </p:nvSpPr>
        <p:spPr/>
        <p:txBody>
          <a:bodyPr lIns="0" tIns="0" rIns="0" bIns="0"/>
          <a:lstStyle>
            <a:defPPr algn="ctr"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fld id="{BA58DA2A-B818-18A9-29C1-B697728D5BCE}" type="slidenum">
              <a: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sz="105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文本占位符 2"/>
          <p:cNvSpPr>
            <a:spLocks noGrp="1"/>
          </p:cNvSpPr>
          <p:nvPr>
            <p:ph type="body" idx="13"/>
          </p:nvPr>
        </p:nvSpPr>
        <p:spPr>
          <a:xfrm>
            <a:off x="285750" y="190500"/>
            <a:ext cx="8858250" cy="514350"/>
          </a:xfrm>
        </p:spPr>
        <p:txBody>
          <a:bodyPr lIns="0" tIns="0" rIns="0" bIns="0" anchor="ctr">
            <a:noAutofit/>
          </a:bodyPr>
          <a:lstStyle>
            <a:defPPr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应用使用流程  一次课程复习</a:t>
            </a:r>
            <a:endParaRPr sz="3000" b="1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文本框 3"/>
          <p:cNvSpPr>
            <a:spLocks noGrp="1"/>
          </p:cNvSpPr>
          <p:nvPr/>
        </p:nvSpPr>
        <p:spPr>
          <a:xfrm>
            <a:off x="600634" y="1109012"/>
            <a:ext cx="3836895" cy="408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示例任务：复习一节自备课程资料"/>
          <p:cNvSpPr>
            <a:spLocks noGrp="1"/>
          </p:cNvSpPr>
          <p:nvPr/>
        </p:nvSpPr>
        <p:spPr>
          <a:xfrm>
            <a:off x="685800" y="121920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示例任务：复习一节自备课程资料</a:t>
            </a:r>
            <a:endParaRPr sz="2325" b="1">
              <a:solidFill>
                <a:srgbClr val="6552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01  导入与归类"/>
          <p:cNvSpPr>
            <a:spLocks noGrp="1"/>
          </p:cNvSpPr>
          <p:nvPr/>
        </p:nvSpPr>
        <p:spPr>
          <a:xfrm>
            <a:off x="685800" y="1971675"/>
            <a:ext cx="28098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导入与归类</a:t>
            </a:r>
            <a:endParaRPr sz="1875" b="1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将自制 PDF 与笔记放入同一课程项"/>
          <p:cNvSpPr>
            <a:spLocks noGrp="1"/>
          </p:cNvSpPr>
          <p:nvPr/>
        </p:nvSpPr>
        <p:spPr>
          <a:xfrm>
            <a:off x="3762375" y="2000250"/>
            <a:ext cx="75723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将自制 PDF 与笔记放入同一课程项目。</a:t>
            </a:r>
            <a:endParaRPr sz="1800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02  阅读与批注"/>
          <p:cNvSpPr>
            <a:spLocks noGrp="1"/>
          </p:cNvSpPr>
          <p:nvPr/>
        </p:nvSpPr>
        <p:spPr>
          <a:xfrm>
            <a:off x="685800" y="2733675"/>
            <a:ext cx="28098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阅读与批注</a:t>
            </a:r>
            <a:endParaRPr sz="1875" b="1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对照资料，记录疑问并保留原件。"/>
          <p:cNvSpPr>
            <a:spLocks noGrp="1"/>
          </p:cNvSpPr>
          <p:nvPr/>
        </p:nvSpPr>
        <p:spPr>
          <a:xfrm>
            <a:off x="3762375" y="2762250"/>
            <a:ext cx="75723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对照资料，记录疑问并保留原件。</a:t>
            </a:r>
            <a:endParaRPr sz="1800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03  整理与链接"/>
          <p:cNvSpPr>
            <a:spLocks noGrp="1"/>
          </p:cNvSpPr>
          <p:nvPr/>
        </p:nvSpPr>
        <p:spPr>
          <a:xfrm>
            <a:off x="685800" y="3495675"/>
            <a:ext cx="28098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整理与链接</a:t>
            </a:r>
            <a:endParaRPr sz="1875" b="1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校对识别结果，用记录关联关键概念。"/>
          <p:cNvSpPr>
            <a:spLocks noGrp="1"/>
          </p:cNvSpPr>
          <p:nvPr/>
        </p:nvSpPr>
        <p:spPr>
          <a:xfrm>
            <a:off x="3762375" y="3524250"/>
            <a:ext cx="75723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校对识别结果，用记录关联关键概念。</a:t>
            </a:r>
            <a:endParaRPr sz="1800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04  自测与回看"/>
          <p:cNvSpPr>
            <a:spLocks noGrp="1"/>
          </p:cNvSpPr>
          <p:nvPr/>
        </p:nvSpPr>
        <p:spPr>
          <a:xfrm>
            <a:off x="685800" y="4257675"/>
            <a:ext cx="28098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自测与回看</a:t>
            </a:r>
            <a:endParaRPr sz="1875" b="1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手动建题卡，根据反馈回到资料复习。"/>
          <p:cNvSpPr>
            <a:spLocks noGrp="1"/>
          </p:cNvSpPr>
          <p:nvPr/>
        </p:nvSpPr>
        <p:spPr>
          <a:xfrm>
            <a:off x="3762375" y="4286250"/>
            <a:ext cx="75723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手动建题卡，根据反馈回到资料复习。</a:t>
            </a:r>
            <a:endParaRPr sz="1800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05  保存与备份"/>
          <p:cNvSpPr>
            <a:spLocks noGrp="1"/>
          </p:cNvSpPr>
          <p:nvPr/>
        </p:nvSpPr>
        <p:spPr>
          <a:xfrm>
            <a:off x="685800" y="5019675"/>
            <a:ext cx="28098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 保存与备份</a:t>
            </a:r>
            <a:endParaRPr sz="1875" b="1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重开核对记录，主动导出备份并检查恢复"/>
          <p:cNvSpPr>
            <a:spLocks noGrp="1"/>
          </p:cNvSpPr>
          <p:nvPr/>
        </p:nvSpPr>
        <p:spPr>
          <a:xfrm>
            <a:off x="3762375" y="5048250"/>
            <a:ext cx="75723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重开核对记录，主动导出备份并检查恢复。</a:t>
            </a:r>
            <a:endParaRPr sz="1800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本轮采用静态讲解。实际操作验收以同一"/>
          <p:cNvSpPr>
            <a:spLocks noGrp="1"/>
          </p:cNvSpPr>
          <p:nvPr/>
        </p:nvSpPr>
        <p:spPr>
          <a:xfrm>
            <a:off x="685800" y="6010275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350" b="0">
              <a:solidFill>
                <a:srgbClr val="626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灯片编号占位符 1"/>
          <p:cNvSpPr>
            <a:spLocks noGrp="1"/>
          </p:cNvSpPr>
          <p:nvPr>
            <p:ph type="sldNum" idx="12"/>
          </p:nvPr>
        </p:nvSpPr>
        <p:spPr/>
        <p:txBody>
          <a:bodyPr lIns="0" tIns="0" rIns="0" bIns="0"/>
          <a:lstStyle>
            <a:defPPr algn="ctr"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fld id="{388657AE-30A1-5A7A-6A7F-315D84436430}" type="slidenum">
              <a: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sz="105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文本占位符 2"/>
          <p:cNvSpPr>
            <a:spLocks noGrp="1"/>
          </p:cNvSpPr>
          <p:nvPr>
            <p:ph type="body" idx="13"/>
          </p:nvPr>
        </p:nvSpPr>
        <p:spPr>
          <a:xfrm>
            <a:off x="285750" y="190500"/>
            <a:ext cx="8858250" cy="514350"/>
          </a:xfrm>
        </p:spPr>
        <p:txBody>
          <a:bodyPr lIns="0" tIns="0" rIns="0" bIns="0" anchor="ctr">
            <a:noAutofit/>
          </a:bodyPr>
          <a:lstStyle>
            <a:defPPr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创新性  课程研读与复习的衔接</a:t>
            </a:r>
            <a:endParaRPr sz="3000" b="1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3"/>
          <p:cNvSpPr>
            <a:spLocks noGrp="1"/>
          </p:cNvSpPr>
          <p:nvPr/>
        </p:nvSpPr>
        <p:spPr>
          <a:xfrm>
            <a:off x="600634" y="1109012"/>
            <a:ext cx="3836895" cy="408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4"/>
          <p:cNvSpPr>
            <a:spLocks noGrp="1"/>
          </p:cNvSpPr>
          <p:nvPr/>
        </p:nvSpPr>
        <p:spPr>
          <a:xfrm>
            <a:off x="600634" y="3923929"/>
            <a:ext cx="3836895" cy="408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围绕课程资料的设计"/>
          <p:cNvSpPr>
            <a:spLocks noGrp="1"/>
          </p:cNvSpPr>
          <p:nvPr/>
        </p:nvSpPr>
        <p:spPr>
          <a:xfrm>
            <a:off x="685800" y="1266825"/>
            <a:ext cx="5048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2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2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2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2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2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2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2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2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2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22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围绕课程资料的设计</a:t>
            </a:r>
            <a:endParaRPr sz="2250" b="1">
              <a:solidFill>
                <a:srgbClr val="6552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原件与个人理解分开保留"/>
          <p:cNvSpPr>
            <a:spLocks noGrp="1"/>
          </p:cNvSpPr>
          <p:nvPr/>
        </p:nvSpPr>
        <p:spPr>
          <a:xfrm>
            <a:off x="685800" y="2019300"/>
            <a:ext cx="4857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原件与个人理解分开保留</a:t>
            </a:r>
            <a:endParaRPr sz="1875" b="1">
              <a:solidFill>
                <a:srgbClr val="6552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原件独立保存，批注与稿纸记录个人理解"/>
          <p:cNvSpPr>
            <a:spLocks noGrp="1"/>
          </p:cNvSpPr>
          <p:nvPr/>
        </p:nvSpPr>
        <p:spPr>
          <a:xfrm>
            <a:off x="685800" y="2438400"/>
            <a:ext cx="4857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原件独立保存，批注与稿纸记录个人理解，便于回看和修改。</a:t>
            </a:r>
            <a:endParaRPr sz="1800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整理和复习保留人工判断"/>
          <p:cNvSpPr>
            <a:spLocks noGrp="1"/>
          </p:cNvSpPr>
          <p:nvPr/>
        </p:nvSpPr>
        <p:spPr>
          <a:xfrm>
            <a:off x="685800" y="3743325"/>
            <a:ext cx="4857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整理和复习保留人工判断</a:t>
            </a:r>
            <a:endParaRPr sz="1875" b="1">
              <a:solidFill>
                <a:srgbClr val="6552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识别结果先校对再整理。&#10;手动建立题卡"/>
          <p:cNvSpPr>
            <a:spLocks noGrp="1"/>
          </p:cNvSpPr>
          <p:nvPr/>
        </p:nvSpPr>
        <p:spPr>
          <a:xfrm>
            <a:off x="685800" y="4162425"/>
            <a:ext cx="4857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识别结果先校对再整理。</a:t>
            </a:r>
            <a:endParaRPr sz="1800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手动建立题卡，保留自测反馈的含义。</a:t>
            </a:r>
            <a:endParaRPr sz="1800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在鸿蒙上的实现"/>
          <p:cNvSpPr>
            <a:spLocks noGrp="1"/>
          </p:cNvSpPr>
          <p:nvPr/>
        </p:nvSpPr>
        <p:spPr>
          <a:xfrm>
            <a:off x="6400800" y="1266825"/>
            <a:ext cx="5048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2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2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2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2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2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2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2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2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2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22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在鸿蒙上的实现</a:t>
            </a:r>
            <a:endParaRPr sz="2250" b="1">
              <a:solidFill>
                <a:srgbClr val="6552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手机与平板共用资料结构"/>
          <p:cNvSpPr>
            <a:spLocks noGrp="1"/>
          </p:cNvSpPr>
          <p:nvPr/>
        </p:nvSpPr>
        <p:spPr>
          <a:xfrm>
            <a:off x="6400800" y="2019300"/>
            <a:ext cx="4857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手机与平板共用资料结构</a:t>
            </a:r>
            <a:endParaRPr sz="1875" b="1">
              <a:solidFill>
                <a:srgbClr val="6552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以鸿蒙原生界面组织阅读和书写。&#10;资料"/>
          <p:cNvSpPr>
            <a:spLocks noGrp="1"/>
          </p:cNvSpPr>
          <p:nvPr/>
        </p:nvSpPr>
        <p:spPr>
          <a:xfrm>
            <a:off x="6400800" y="2438400"/>
            <a:ext cx="4857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以鸿蒙原生界面组织阅读和书写。</a:t>
            </a:r>
            <a:endParaRPr sz="1800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资料标签与双文档工作台用于对照。</a:t>
            </a:r>
            <a:endParaRPr sz="1800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系统能力服务资料任务"/>
          <p:cNvSpPr>
            <a:spLocks noGrp="1"/>
          </p:cNvSpPr>
          <p:nvPr/>
        </p:nvSpPr>
        <p:spPr>
          <a:xfrm>
            <a:off x="6400800" y="3743325"/>
            <a:ext cx="4857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系统能力服务资料任务</a:t>
            </a:r>
            <a:endParaRPr sz="1875" b="1">
              <a:solidFill>
                <a:srgbClr val="6552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通过系统能力导入、识别和分享。&#10;本地"/>
          <p:cNvSpPr>
            <a:spLocks noGrp="1"/>
          </p:cNvSpPr>
          <p:nvPr/>
        </p:nvSpPr>
        <p:spPr>
          <a:xfrm>
            <a:off x="6400800" y="4162425"/>
            <a:ext cx="4857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通过系统能力导入、识别和分享。</a:t>
            </a:r>
            <a:endParaRPr sz="1800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本地关系数据库组织资料与记录。</a:t>
            </a:r>
            <a:endParaRPr sz="1800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项目特色来自面向课程任务的实现与取舍"/>
          <p:cNvSpPr>
            <a:spLocks noGrp="1"/>
          </p:cNvSpPr>
          <p:nvPr/>
        </p:nvSpPr>
        <p:spPr>
          <a:xfrm>
            <a:off x="685800" y="6010275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35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350" b="0">
              <a:solidFill>
                <a:srgbClr val="626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灯片编号占位符 1"/>
          <p:cNvSpPr>
            <a:spLocks noGrp="1"/>
          </p:cNvSpPr>
          <p:nvPr>
            <p:ph type="sldNum" idx="12"/>
          </p:nvPr>
        </p:nvSpPr>
        <p:spPr/>
        <p:txBody>
          <a:bodyPr lIns="0" tIns="0" rIns="0" bIns="0"/>
          <a:lstStyle>
            <a:defPPr algn="ctr"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fld id="{DB7BEEEC-A170-5376-2B6E-CB54687B0CB1}" type="slidenum">
              <a: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sz="105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文本占位符 2"/>
          <p:cNvSpPr>
            <a:spLocks noGrp="1"/>
          </p:cNvSpPr>
          <p:nvPr>
            <p:ph type="body" idx="13"/>
          </p:nvPr>
        </p:nvSpPr>
        <p:spPr>
          <a:xfrm>
            <a:off x="285750" y="190500"/>
            <a:ext cx="8858250" cy="514350"/>
          </a:xfrm>
        </p:spPr>
        <p:txBody>
          <a:bodyPr lIns="0" tIns="0" rIns="0" bIns="0" anchor="ctr">
            <a:noAutofit/>
          </a:bodyPr>
          <a:lstStyle>
            <a:defPPr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技术实现与功能规划</a:t>
            </a:r>
            <a:endParaRPr sz="3000" b="1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3"/>
          <p:cNvSpPr>
            <a:spLocks noGrp="1"/>
          </p:cNvSpPr>
          <p:nvPr/>
        </p:nvSpPr>
        <p:spPr>
          <a:xfrm>
            <a:off x="600634" y="1109012"/>
            <a:ext cx="3836895" cy="408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4"/>
          <p:cNvSpPr>
            <a:spLocks noGrp="1"/>
          </p:cNvSpPr>
          <p:nvPr/>
        </p:nvSpPr>
        <p:spPr>
          <a:xfrm>
            <a:off x="600634" y="3923929"/>
            <a:ext cx="3836895" cy="408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参赛主体为本地应用，云服务与 AI "/>
          <p:cNvSpPr>
            <a:spLocks noGrp="1"/>
          </p:cNvSpPr>
          <p:nvPr/>
        </p:nvSpPr>
        <p:spPr>
          <a:xfrm>
            <a:off x="685800" y="1219200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本地应用 1.1.1 为当前版本</a:t>
            </a:r>
            <a:endParaRPr sz="2325" b="1">
              <a:solidFill>
                <a:srgbClr val="6552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1" name="表格 30"/>
          <p:cNvGraphicFramePr/>
          <p:nvPr/>
        </p:nvGraphicFramePr>
        <p:xfrm>
          <a:off x="685800" y="1857375"/>
          <a:ext cx="10820400" cy="3105152"/>
        </p:xfrm>
        <a:graphic>
          <a:graphicData uri="http://schemas.openxmlformats.org/drawingml/2006/table">
            <a:tbl>
              <a:tblPr/>
              <a:tblGrid>
                <a:gridCol w="1905000"/>
                <a:gridCol w="5715000"/>
                <a:gridCol w="3200400"/>
              </a:tblGrid>
              <a:tr h="776288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1">
                          <a:solidFill>
                            <a:srgbClr val="5340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部分</a:t>
                      </a:r>
                      <a:endParaRPr sz="1600" b="1">
                        <a:solidFill>
                          <a:srgbClr val="5340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AD3E8"/>
                      </a:solidFill>
                      <a:prstDash val="solid"/>
                    </a:lnL>
                    <a:lnR w="9525">
                      <a:solidFill>
                        <a:srgbClr val="DAD3E8"/>
                      </a:solidFill>
                      <a:prstDash val="solid"/>
                    </a:lnR>
                    <a:lnT w="9525">
                      <a:solidFill>
                        <a:srgbClr val="DAD3E8"/>
                      </a:solidFill>
                      <a:prstDash val="solid"/>
                    </a:lnT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1">
                          <a:solidFill>
                            <a:srgbClr val="5340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功能与实现</a:t>
                      </a:r>
                      <a:endParaRPr sz="1600" b="1">
                        <a:solidFill>
                          <a:srgbClr val="5340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T w="9525">
                      <a:solidFill>
                        <a:srgbClr val="DAD3E8"/>
                      </a:solidFill>
                      <a:prstDash val="solid"/>
                    </a:lnT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1">
                          <a:solidFill>
                            <a:srgbClr val="5340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当前进展</a:t>
                      </a:r>
                      <a:endParaRPr sz="1600" b="1">
                        <a:solidFill>
                          <a:srgbClr val="5340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T w="9525">
                      <a:solidFill>
                        <a:srgbClr val="DAD3E8"/>
                      </a:solidFill>
                      <a:prstDash val="solid"/>
                    </a:lnT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EEEAF8"/>
                    </a:solidFill>
                  </a:tcPr>
                </a:tc>
              </a:tr>
              <a:tr h="776288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本地应用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AD3E8"/>
                      </a:solidFill>
                      <a:prstDash val="solid"/>
                    </a:lnL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跨格式阅读、手写批注与手动复习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ArkTS / ArkUI 与本地存储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本地功能已实现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手机、平板体验继续完善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 辅助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AD3E8"/>
                      </a:solidFill>
                      <a:prstDash val="solid"/>
                    </a:lnL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AF9F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文本检索与带出处草稿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独立原型评估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AF9F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未接入主程序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真实效果与接入方案待验证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AF9FC"/>
                    </a:solidFill>
                  </a:tcPr>
                </a:tc>
              </a:tr>
              <a:tr h="776288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云服务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AD3E8"/>
                      </a:solidFill>
                      <a:prstDash val="solid"/>
                    </a:lnL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托管 AI、私人云盘与授权公开资料库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方案设计阶段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服务尚未建设完成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未接入的背景与后续条件"/>
          <p:cNvSpPr>
            <a:spLocks noGrp="1"/>
          </p:cNvSpPr>
          <p:nvPr/>
        </p:nvSpPr>
        <p:spPr>
          <a:xfrm>
            <a:off x="685800" y="5229225"/>
            <a:ext cx="10820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云服务与 AI 的后续接入</a:t>
            </a:r>
            <a:endParaRPr sz="1875" b="1">
              <a:solidFill>
                <a:srgbClr val="6552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据团队说明，接入受资质与审核条件限制"/>
          <p:cNvSpPr>
            <a:spLocks noGrp="1"/>
          </p:cNvSpPr>
          <p:nvPr/>
        </p:nvSpPr>
        <p:spPr>
          <a:xfrm>
            <a:off x="685800" y="56578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65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5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5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5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5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5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5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5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5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65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受现阶段资质和审核条件限制，云服务与 AI 暂未接入主程序。后续将结合服务实现、用户授权与审核条件推进。</a:t>
            </a:r>
            <a:endParaRPr sz="1650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灯片编号占位符 1"/>
          <p:cNvSpPr>
            <a:spLocks noGrp="1"/>
          </p:cNvSpPr>
          <p:nvPr>
            <p:ph type="sldNum" idx="12"/>
          </p:nvPr>
        </p:nvSpPr>
        <p:spPr/>
        <p:txBody>
          <a:bodyPr lIns="0" tIns="0" rIns="0" bIns="0"/>
          <a:lstStyle>
            <a:defPPr algn="ctr"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fld id="{30394428-F1DC-E5F6-DB0C-7DE31F3D8A23}" type="slidenum">
              <a: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sz="105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文本占位符 2"/>
          <p:cNvSpPr>
            <a:spLocks noGrp="1"/>
          </p:cNvSpPr>
          <p:nvPr>
            <p:ph type="body" idx="13"/>
          </p:nvPr>
        </p:nvSpPr>
        <p:spPr>
          <a:xfrm>
            <a:off x="285750" y="190500"/>
            <a:ext cx="8858250" cy="514350"/>
          </a:xfrm>
        </p:spPr>
        <p:txBody>
          <a:bodyPr lIns="0" tIns="0" rIns="0" bIns="0" anchor="ctr">
            <a:noAutofit/>
          </a:bodyPr>
          <a:lstStyle>
            <a:defPPr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产品完成情况</a:t>
            </a:r>
            <a:endParaRPr sz="3000" b="1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3"/>
          <p:cNvSpPr>
            <a:spLocks noGrp="1"/>
          </p:cNvSpPr>
          <p:nvPr/>
        </p:nvSpPr>
        <p:spPr>
          <a:xfrm>
            <a:off x="600634" y="1109012"/>
            <a:ext cx="3836895" cy="408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4"/>
          <p:cNvSpPr>
            <a:spLocks noGrp="1"/>
          </p:cNvSpPr>
          <p:nvPr/>
        </p:nvSpPr>
        <p:spPr>
          <a:xfrm>
            <a:off x="600634" y="3923929"/>
            <a:ext cx="3836895" cy="408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现有实现与验证记录"/>
          <p:cNvSpPr>
            <a:spLocks noGrp="1"/>
          </p:cNvSpPr>
          <p:nvPr/>
        </p:nvSpPr>
        <p:spPr>
          <a:xfrm>
            <a:off x="685800" y="1219200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本地核心功能已实现，继续完善设备体验</a:t>
            </a:r>
            <a:endParaRPr sz="2325" b="1">
              <a:solidFill>
                <a:srgbClr val="6552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1" name="表格 30"/>
          <p:cNvGraphicFramePr/>
          <p:nvPr/>
        </p:nvGraphicFramePr>
        <p:xfrm>
          <a:off x="685800" y="1876425"/>
          <a:ext cx="10820400" cy="3781425"/>
        </p:xfrm>
        <a:graphic>
          <a:graphicData uri="http://schemas.openxmlformats.org/drawingml/2006/table">
            <a:tbl>
              <a:tblPr/>
              <a:tblGrid>
                <a:gridCol w="2095500"/>
                <a:gridCol w="4362450"/>
                <a:gridCol w="4362450"/>
              </a:tblGrid>
              <a:tr h="75628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1">
                          <a:solidFill>
                            <a:srgbClr val="5340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功能模块</a:t>
                      </a:r>
                      <a:endParaRPr sz="1600" b="1">
                        <a:solidFill>
                          <a:srgbClr val="5340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AD3E8"/>
                      </a:solidFill>
                      <a:prstDash val="solid"/>
                    </a:lnL>
                    <a:lnR w="9525">
                      <a:solidFill>
                        <a:srgbClr val="DAD3E8"/>
                      </a:solidFill>
                      <a:prstDash val="solid"/>
                    </a:lnR>
                    <a:lnT w="9525">
                      <a:solidFill>
                        <a:srgbClr val="DAD3E8"/>
                      </a:solidFill>
                      <a:prstDash val="solid"/>
                    </a:lnT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1">
                          <a:solidFill>
                            <a:srgbClr val="5340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当前完成情况</a:t>
                      </a:r>
                      <a:endParaRPr sz="1600" b="1">
                        <a:solidFill>
                          <a:srgbClr val="5340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T w="9525">
                      <a:solidFill>
                        <a:srgbClr val="DAD3E8"/>
                      </a:solidFill>
                      <a:prstDash val="solid"/>
                    </a:lnT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1">
                          <a:solidFill>
                            <a:srgbClr val="5340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后续完善重点</a:t>
                      </a:r>
                      <a:endParaRPr sz="1600" b="1">
                        <a:solidFill>
                          <a:srgbClr val="5340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T w="9525">
                      <a:solidFill>
                        <a:srgbClr val="DAD3E8"/>
                      </a:solidFill>
                      <a:prstDash val="solid"/>
                    </a:lnT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EEEAF8"/>
                    </a:solidFill>
                  </a:tcPr>
                </a:tc>
              </a:tr>
              <a:tr h="75628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资料阅读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AD3E8"/>
                      </a:solidFill>
                      <a:prstDash val="solid"/>
                    </a:lnL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PDF、Markdown、TXT 及图片阅读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课程项目、标签与搜索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优化大文件阅读体验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检查不同资料格式兼容性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628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书写与整理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AD3E8"/>
                      </a:solidFill>
                      <a:prstDash val="solid"/>
                    </a:lnL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AF9F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手写批注、随堂稿纸与文字记录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原件与笔迹分别保存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AF9F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完善物理笔、文字识别体验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检查保存及异常恢复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AF9FC"/>
                    </a:solidFill>
                  </a:tcPr>
                </a:tc>
              </a:tr>
              <a:tr h="75628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复习与迁移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AD3E8"/>
                      </a:solidFill>
                      <a:prstDash val="solid"/>
                    </a:lnL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手动题卡、学习概况与待巩固筛选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资料备份、恢复与主动分享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检查复习记录与恢复结果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组织完整课程任务试用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628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扩展服务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AD3E8"/>
                      </a:solidFill>
                      <a:prstDash val="solid"/>
                    </a:lnL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AF9F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独立 AI 原型与云服务方案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均未接入主程序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AF9F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评估草稿质量与服务成本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核实建设、授权与审核条件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AF9FC"/>
                    </a:solidFill>
                  </a:tcPr>
                </a:tc>
              </a:tr>
            </a:tbl>
          </a:graphicData>
        </a:graphic>
      </p:graphicFrame>
      <p:sp>
        <p:nvSpPr>
          <p:cNvPr id="32" name="715 项来自已有自动报告，本轮未重"/>
          <p:cNvSpPr>
            <a:spLocks noGrp="1"/>
          </p:cNvSpPr>
          <p:nvPr/>
        </p:nvSpPr>
        <p:spPr>
          <a:xfrm>
            <a:off x="685800" y="6010275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300" b="0">
              <a:solidFill>
                <a:srgbClr val="626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灯片编号占位符 1"/>
          <p:cNvSpPr>
            <a:spLocks noGrp="1"/>
          </p:cNvSpPr>
          <p:nvPr>
            <p:ph type="sldNum" idx="12"/>
          </p:nvPr>
        </p:nvSpPr>
        <p:spPr/>
        <p:txBody>
          <a:bodyPr lIns="0" tIns="0" rIns="0" bIns="0"/>
          <a:lstStyle>
            <a:defPPr algn="ctr"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fld id="{4DB16885-0D3F-A391-B669-3211DB3B26E8}" type="slidenum">
              <a: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sz="105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文本占位符 2"/>
          <p:cNvSpPr>
            <a:spLocks noGrp="1"/>
          </p:cNvSpPr>
          <p:nvPr>
            <p:ph type="body" idx="13"/>
          </p:nvPr>
        </p:nvSpPr>
        <p:spPr>
          <a:xfrm>
            <a:off x="285750" y="190500"/>
            <a:ext cx="8858250" cy="514350"/>
          </a:xfrm>
        </p:spPr>
        <p:txBody>
          <a:bodyPr lIns="0" tIns="0" rIns="0" bIns="0" anchor="ctr">
            <a:noAutofit/>
          </a:bodyPr>
          <a:lstStyle>
            <a:defPPr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商业价值  目标用户与试用计划</a:t>
            </a:r>
            <a:endParaRPr sz="3000" b="1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"/>
          <p:cNvSpPr>
            <a:spLocks noGrp="1"/>
          </p:cNvSpPr>
          <p:nvPr/>
        </p:nvSpPr>
        <p:spPr>
          <a:xfrm>
            <a:off x="600634" y="1109012"/>
            <a:ext cx="3836895" cy="408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优先服务使用鸿蒙平板进行课程研读的学"/>
          <p:cNvSpPr>
            <a:spLocks noGrp="1"/>
          </p:cNvSpPr>
          <p:nvPr/>
        </p:nvSpPr>
        <p:spPr>
          <a:xfrm>
            <a:off x="685800" y="121920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优先服务使用鸿蒙平板进行课程研读的学生</a:t>
            </a:r>
            <a:endParaRPr sz="2325" b="1">
              <a:solidFill>
                <a:srgbClr val="6552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优先场景"/>
          <p:cNvSpPr>
            <a:spLocks noGrp="1"/>
          </p:cNvSpPr>
          <p:nvPr/>
        </p:nvSpPr>
        <p:spPr>
          <a:xfrm>
            <a:off x="685800" y="1962150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优先场景</a:t>
            </a:r>
            <a:endParaRPr sz="1875" b="1">
              <a:solidFill>
                <a:srgbClr val="6552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课件与课本对照、手写批注、课后整理和"/>
          <p:cNvSpPr>
            <a:spLocks noGrp="1"/>
          </p:cNvSpPr>
          <p:nvPr/>
        </p:nvSpPr>
        <p:spPr>
          <a:xfrm>
            <a:off x="685800" y="2381250"/>
            <a:ext cx="10668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课件与课本对照、手写批注、课后整理和考前手动自测。手机承担随时回看。</a:t>
            </a:r>
            <a:endParaRPr sz="1725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预期用户价值"/>
          <p:cNvSpPr>
            <a:spLocks noGrp="1"/>
          </p:cNvSpPr>
          <p:nvPr/>
        </p:nvSpPr>
        <p:spPr>
          <a:xfrm>
            <a:off x="685800" y="292417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预期用户价值</a:t>
            </a:r>
            <a:endParaRPr sz="1875" b="1">
              <a:solidFill>
                <a:srgbClr val="6552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希望减少资料查找与重复整理，保留原文"/>
          <p:cNvSpPr>
            <a:spLocks noGrp="1"/>
          </p:cNvSpPr>
          <p:nvPr/>
        </p:nvSpPr>
        <p:spPr>
          <a:xfrm>
            <a:off x="685800" y="3343275"/>
            <a:ext cx="10668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希望减少资料查找与重复整理，保留原文、个人记录和复习材料之间的联系。</a:t>
            </a:r>
            <a:endParaRPr sz="1725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拟开展的用户观察"/>
          <p:cNvSpPr>
            <a:spLocks noGrp="1"/>
          </p:cNvSpPr>
          <p:nvPr/>
        </p:nvSpPr>
        <p:spPr>
          <a:xfrm>
            <a:off x="685800" y="3886200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拟开展的用户观察</a:t>
            </a:r>
            <a:endParaRPr sz="1875" b="1">
              <a:solidFill>
                <a:srgbClr val="6552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先邀请 2-3 人试跑任务，再计划招"/>
          <p:cNvSpPr>
            <a:spLocks noGrp="1"/>
          </p:cNvSpPr>
          <p:nvPr/>
        </p:nvSpPr>
        <p:spPr>
          <a:xfrm>
            <a:off x="685800" y="4305300"/>
            <a:ext cx="10668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拟先邀请 2-3 人试用，再招募 10-15 人，观察任务完成情况、使用耗时与反馈。</a:t>
            </a:r>
            <a:endParaRPr sz="1725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验证依据"/>
          <p:cNvSpPr>
            <a:spLocks noGrp="1"/>
          </p:cNvSpPr>
          <p:nvPr/>
        </p:nvSpPr>
        <p:spPr>
          <a:xfrm>
            <a:off x="685800" y="4848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试用观察重点</a:t>
            </a:r>
            <a:endParaRPr sz="1875" b="1">
              <a:solidFill>
                <a:srgbClr val="6552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与用户原有流程对照，报告任务结果和失"/>
          <p:cNvSpPr>
            <a:spLocks noGrp="1"/>
          </p:cNvSpPr>
          <p:nvPr/>
        </p:nvSpPr>
        <p:spPr>
          <a:xfrm>
            <a:off x="685800" y="5267325"/>
            <a:ext cx="10668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与用户原有方式对照，了解资料能否找到、记录能否复用，据此安排改进。</a:t>
            </a:r>
            <a:endParaRPr sz="1725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上述人群与收益是目标假设，招募人数是"/>
          <p:cNvSpPr>
            <a:spLocks noGrp="1"/>
          </p:cNvSpPr>
          <p:nvPr/>
        </p:nvSpPr>
        <p:spPr>
          <a:xfrm>
            <a:off x="685800" y="6010275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300" b="0">
              <a:solidFill>
                <a:srgbClr val="626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灯片编号占位符 1"/>
          <p:cNvSpPr>
            <a:spLocks noGrp="1"/>
          </p:cNvSpPr>
          <p:nvPr>
            <p:ph type="sldNum" idx="12"/>
          </p:nvPr>
        </p:nvSpPr>
        <p:spPr/>
        <p:txBody>
          <a:bodyPr lIns="0" tIns="0" rIns="0" bIns="0"/>
          <a:lstStyle>
            <a:defPPr algn="ctr"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fld id="{2DD23107-4986-8758-3A93-3D74F35908CC}" type="slidenum">
              <a: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sz="105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文本占位符 2"/>
          <p:cNvSpPr>
            <a:spLocks noGrp="1"/>
          </p:cNvSpPr>
          <p:nvPr>
            <p:ph type="body" idx="13"/>
          </p:nvPr>
        </p:nvSpPr>
        <p:spPr>
          <a:xfrm>
            <a:off x="285750" y="190500"/>
            <a:ext cx="8858250" cy="514350"/>
          </a:xfrm>
        </p:spPr>
        <p:txBody>
          <a:bodyPr lIns="0" tIns="0" rIns="0" bIns="0" anchor="ctr">
            <a:noAutofit/>
          </a:bodyPr>
          <a:lstStyle>
            <a:defPPr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商业价值  持续使用与可选服务</a:t>
            </a:r>
            <a:endParaRPr sz="3000" b="1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"/>
          <p:cNvSpPr>
            <a:spLocks noGrp="1"/>
          </p:cNvSpPr>
          <p:nvPr/>
        </p:nvSpPr>
        <p:spPr>
          <a:xfrm>
            <a:off x="600634" y="1109012"/>
            <a:ext cx="3836895" cy="408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4" name="表格 33"/>
          <p:cNvGraphicFramePr/>
          <p:nvPr/>
        </p:nvGraphicFramePr>
        <p:xfrm>
          <a:off x="685800" y="1333500"/>
          <a:ext cx="10820400" cy="2895600"/>
        </p:xfrm>
        <a:graphic>
          <a:graphicData uri="http://schemas.openxmlformats.org/drawingml/2006/table">
            <a:tbl>
              <a:tblPr/>
              <a:tblGrid>
                <a:gridCol w="2095500"/>
                <a:gridCol w="4762500"/>
                <a:gridCol w="3962400"/>
              </a:tblGrid>
              <a:tr h="72390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1">
                          <a:solidFill>
                            <a:srgbClr val="5340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商业判断</a:t>
                      </a:r>
                      <a:endParaRPr sz="1600" b="1">
                        <a:solidFill>
                          <a:srgbClr val="5340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AD3E8"/>
                      </a:solidFill>
                      <a:prstDash val="solid"/>
                    </a:lnL>
                    <a:lnR w="9525">
                      <a:solidFill>
                        <a:srgbClr val="DAD3E8"/>
                      </a:solidFill>
                      <a:prstDash val="solid"/>
                    </a:lnR>
                    <a:lnT w="9525">
                      <a:solidFill>
                        <a:srgbClr val="DAD3E8"/>
                      </a:solidFill>
                      <a:prstDash val="solid"/>
                    </a:lnT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1">
                          <a:solidFill>
                            <a:srgbClr val="5340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观察或测量内容</a:t>
                      </a:r>
                      <a:endParaRPr sz="1600" b="1">
                        <a:solidFill>
                          <a:srgbClr val="5340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T w="9525">
                      <a:solidFill>
                        <a:srgbClr val="DAD3E8"/>
                      </a:solidFill>
                      <a:prstDash val="solid"/>
                    </a:lnT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1">
                          <a:solidFill>
                            <a:srgbClr val="5340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决策依据</a:t>
                      </a:r>
                      <a:endParaRPr sz="1600" b="1">
                        <a:solidFill>
                          <a:srgbClr val="5340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T w="9525">
                      <a:solidFill>
                        <a:srgbClr val="DAD3E8"/>
                      </a:solidFill>
                      <a:prstDash val="solid"/>
                    </a:lnT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EEEAF8"/>
                    </a:solidFill>
                  </a:tcPr>
                </a:tc>
              </a:tr>
              <a:tr h="72390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是否愿意继续使用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AD3E8"/>
                      </a:solidFill>
                      <a:prstDash val="solid"/>
                    </a:lnL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学生能否找回批注与相关资料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是否愿意把下一门课程放进来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真实任务结果、主动反馈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与后续使用记录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是否需要 AI 辅助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AD3E8"/>
                      </a:solidFill>
                      <a:prstDash val="solid"/>
                    </a:lnL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AF9F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独立原型能否给出可核对的草稿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人工校正负担是否可接受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AF9F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授权样本评估、错误记录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与实际任务需求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AF9FC"/>
                    </a:solidFill>
                  </a:tcPr>
                </a:tc>
              </a:tr>
              <a:tr h="72390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服务是否可持续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AD3E8"/>
                      </a:solidFill>
                      <a:prstDash val="solid"/>
                    </a:lnL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模型、存储、失败处理和支持成本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用户对明确权益的付费选择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单位任务成本与真实选择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意向和收入分别记录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后续服务方向"/>
          <p:cNvSpPr>
            <a:spLocks noGrp="1"/>
          </p:cNvSpPr>
          <p:nvPr/>
        </p:nvSpPr>
        <p:spPr>
          <a:xfrm>
            <a:off x="685800" y="4581525"/>
            <a:ext cx="108204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0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0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0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0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0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0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0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0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0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20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后续服务方向</a:t>
            </a:r>
            <a:endParaRPr sz="2025" b="1">
              <a:solidFill>
                <a:srgbClr val="6552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保留本地核心独立使用。资质、审核与接"/>
          <p:cNvSpPr>
            <a:spLocks noGrp="1"/>
          </p:cNvSpPr>
          <p:nvPr/>
        </p:nvSpPr>
        <p:spPr>
          <a:xfrm>
            <a:off x="685800" y="5114925"/>
            <a:ext cx="105727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本地核心功能继续独立使用，后续评估 AI 额度、私人资料空间与授权内容服务。</a:t>
            </a:r>
            <a:endParaRPr sz="1800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服务建设与接入需满足资质、审核和授权条件。</a:t>
            </a:r>
            <a:endParaRPr sz="1800" b="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上述服务均为后续方向，云服务及 AI"/>
          <p:cNvSpPr>
            <a:spLocks noGrp="1"/>
          </p:cNvSpPr>
          <p:nvPr/>
        </p:nvSpPr>
        <p:spPr>
          <a:xfrm>
            <a:off x="685800" y="6010275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300" b="0">
              <a:solidFill>
                <a:srgbClr val="626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灯片编号占位符 1"/>
          <p:cNvSpPr>
            <a:spLocks noGrp="1"/>
          </p:cNvSpPr>
          <p:nvPr>
            <p:ph type="sldNum" idx="12"/>
          </p:nvPr>
        </p:nvSpPr>
        <p:spPr/>
        <p:txBody>
          <a:bodyPr lIns="0" tIns="0" rIns="0" bIns="0"/>
          <a:lstStyle>
            <a:defPPr algn="ctr"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fld id="{327921A4-25C4-3DB4-06B1-32693CEE2241}" type="slidenum">
              <a: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sz="105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文本占位符 2"/>
          <p:cNvSpPr>
            <a:spLocks noGrp="1"/>
          </p:cNvSpPr>
          <p:nvPr>
            <p:ph type="body" idx="13"/>
          </p:nvPr>
        </p:nvSpPr>
        <p:spPr>
          <a:xfrm>
            <a:off x="285750" y="190500"/>
            <a:ext cx="8858250" cy="514350"/>
          </a:xfrm>
        </p:spPr>
        <p:txBody>
          <a:bodyPr lIns="0" tIns="0" rIns="0" bIns="0" anchor="ctr">
            <a:noAutofit/>
          </a:bodyPr>
          <a:lstStyle>
            <a:defPPr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下一步工作与预期成果</a:t>
            </a:r>
            <a:endParaRPr sz="3000" b="1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"/>
          <p:cNvSpPr>
            <a:spLocks noGrp="1"/>
          </p:cNvSpPr>
          <p:nvPr/>
        </p:nvSpPr>
        <p:spPr>
          <a:xfrm>
            <a:off x="600634" y="1109012"/>
            <a:ext cx="3836895" cy="408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按完成条件推进，以实际交付决定下一阶"/>
          <p:cNvSpPr>
            <a:spLocks noGrp="1"/>
          </p:cNvSpPr>
          <p:nvPr/>
        </p:nvSpPr>
        <p:spPr>
          <a:xfrm>
            <a:off x="685800" y="1219200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按完成情况推进，先完善本地版本</a:t>
            </a:r>
            <a:endParaRPr sz="2325" b="1">
              <a:solidFill>
                <a:srgbClr val="6552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5" name="表格 34"/>
          <p:cNvGraphicFramePr/>
          <p:nvPr/>
        </p:nvGraphicFramePr>
        <p:xfrm>
          <a:off x="685800" y="1876425"/>
          <a:ext cx="10820400" cy="3781425"/>
        </p:xfrm>
        <a:graphic>
          <a:graphicData uri="http://schemas.openxmlformats.org/drawingml/2006/table">
            <a:tbl>
              <a:tblPr/>
              <a:tblGrid>
                <a:gridCol w="1857375"/>
                <a:gridCol w="4000500"/>
                <a:gridCol w="4962525"/>
              </a:tblGrid>
              <a:tr h="75628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1">
                          <a:solidFill>
                            <a:srgbClr val="5340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</a:t>
                      </a:r>
                      <a:endParaRPr sz="1600" b="1">
                        <a:solidFill>
                          <a:srgbClr val="5340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AD3E8"/>
                      </a:solidFill>
                      <a:prstDash val="solid"/>
                    </a:lnL>
                    <a:lnR w="9525">
                      <a:solidFill>
                        <a:srgbClr val="DAD3E8"/>
                      </a:solidFill>
                      <a:prstDash val="solid"/>
                    </a:lnR>
                    <a:lnT w="9525">
                      <a:solidFill>
                        <a:srgbClr val="DAD3E8"/>
                      </a:solidFill>
                      <a:prstDash val="solid"/>
                    </a:lnT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1">
                          <a:solidFill>
                            <a:srgbClr val="5340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主要工作</a:t>
                      </a:r>
                      <a:endParaRPr sz="1600" b="1">
                        <a:solidFill>
                          <a:srgbClr val="5340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T w="9525">
                      <a:solidFill>
                        <a:srgbClr val="DAD3E8"/>
                      </a:solidFill>
                      <a:prstDash val="solid"/>
                    </a:lnT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1">
                          <a:solidFill>
                            <a:srgbClr val="5340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预期成果</a:t>
                      </a:r>
                      <a:endParaRPr sz="1600" b="1">
                        <a:solidFill>
                          <a:srgbClr val="5340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T w="9525">
                      <a:solidFill>
                        <a:srgbClr val="DAD3E8"/>
                      </a:solidFill>
                      <a:prstDash val="solid"/>
                    </a:lnT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EEEAF8"/>
                    </a:solidFill>
                  </a:tcPr>
                </a:tc>
              </a:tr>
              <a:tr h="75628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完善本地版本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AD3E8"/>
                      </a:solidFill>
                      <a:prstDash val="solid"/>
                    </a:lnL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完善手机与平板核心使用流程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检查签名、安装与发布条件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手机、平板完成核心操作检查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形成可安装版本及主要问题修复结果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628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组织课程试用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AD3E8"/>
                      </a:solidFill>
                      <a:prstDash val="solid"/>
                    </a:lnL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AF9F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观察课程资料的实际使用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根据真实反馈改进产品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AF9F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完成试用记录与问题整理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主要使用问题有修复和复查结果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AF9FC"/>
                    </a:solidFill>
                  </a:tcPr>
                </a:tc>
              </a:tr>
              <a:tr h="75628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检查 AI 草稿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AD3E8"/>
                      </a:solidFill>
                      <a:prstDash val="solid"/>
                    </a:lnL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保持原型独立，评估授权样本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核对草稿内容与处理成本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了解引用质量、修改负担和成本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据此确定是否继续投入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6285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决定服务接入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AD3E8"/>
                      </a:solidFill>
                      <a:prstDash val="solid"/>
                    </a:lnL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AF9F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核实资质与审核条件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完成授权、隐私与采纳方案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AF9F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完成所需开发、授权与审核核实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再确定服务建设及主程序接入范围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AF9FC"/>
                    </a:solidFill>
                  </a:tcPr>
                </a:tc>
              </a:tr>
            </a:tbl>
          </a:graphicData>
        </a:graphic>
      </p:graphicFrame>
      <p:sp>
        <p:nvSpPr>
          <p:cNvPr id="36" name="每阶段先形成可复核证据，再扩大范围。"/>
          <p:cNvSpPr>
            <a:spLocks noGrp="1"/>
          </p:cNvSpPr>
          <p:nvPr/>
        </p:nvSpPr>
        <p:spPr>
          <a:xfrm>
            <a:off x="685800" y="6010275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1300" b="0">
                <a:solidFill>
                  <a:srgbClr val="6260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300" b="0">
              <a:solidFill>
                <a:srgbClr val="6260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灯片编号占位符 1"/>
          <p:cNvSpPr>
            <a:spLocks noGrp="1"/>
          </p:cNvSpPr>
          <p:nvPr>
            <p:ph type="sldNum" idx="12"/>
          </p:nvPr>
        </p:nvSpPr>
        <p:spPr/>
        <p:txBody>
          <a:bodyPr lIns="0" tIns="0" rIns="0" bIns="0"/>
          <a:lstStyle>
            <a:defPPr algn="ctr"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fld id="{EA83FA91-883A-0168-8075-96CEB9DCA3C2}" type="slidenum">
              <a:rPr sz="1050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sz="1050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文本占位符 2"/>
          <p:cNvSpPr>
            <a:spLocks noGrp="1"/>
          </p:cNvSpPr>
          <p:nvPr>
            <p:ph type="body" idx="13"/>
          </p:nvPr>
        </p:nvSpPr>
        <p:spPr>
          <a:xfrm>
            <a:off x="285750" y="190500"/>
            <a:ext cx="8858250" cy="514350"/>
          </a:xfrm>
        </p:spPr>
        <p:txBody>
          <a:bodyPr lIns="0" tIns="0" rIns="0" bIns="0" anchor="ctr">
            <a:noAutofit/>
          </a:bodyPr>
          <a:lstStyle>
            <a:defPPr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buNone/>
              <a:def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2421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风险应对与资源需求</a:t>
            </a:r>
            <a:endParaRPr sz="3000" b="1">
              <a:solidFill>
                <a:srgbClr val="2421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"/>
          <p:cNvSpPr>
            <a:spLocks noGrp="1"/>
          </p:cNvSpPr>
          <p:nvPr/>
        </p:nvSpPr>
        <p:spPr>
          <a:xfrm>
            <a:off x="600634" y="1109012"/>
            <a:ext cx="3836895" cy="408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4" name="表格 33"/>
          <p:cNvGraphicFramePr/>
          <p:nvPr/>
        </p:nvGraphicFramePr>
        <p:xfrm>
          <a:off x="685800" y="1400175"/>
          <a:ext cx="10820400" cy="3981450"/>
        </p:xfrm>
        <a:graphic>
          <a:graphicData uri="http://schemas.openxmlformats.org/drawingml/2006/table">
            <a:tbl>
              <a:tblPr/>
              <a:tblGrid>
                <a:gridCol w="1905000"/>
                <a:gridCol w="4457700"/>
                <a:gridCol w="4457700"/>
              </a:tblGrid>
              <a:tr h="79629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1">
                          <a:solidFill>
                            <a:srgbClr val="5340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风险</a:t>
                      </a:r>
                      <a:endParaRPr sz="1600" b="1">
                        <a:solidFill>
                          <a:srgbClr val="5340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AD3E8"/>
                      </a:solidFill>
                      <a:prstDash val="solid"/>
                    </a:lnL>
                    <a:lnR w="9525">
                      <a:solidFill>
                        <a:srgbClr val="DAD3E8"/>
                      </a:solidFill>
                      <a:prstDash val="solid"/>
                    </a:lnR>
                    <a:lnT w="9525">
                      <a:solidFill>
                        <a:srgbClr val="DAD3E8"/>
                      </a:solidFill>
                      <a:prstDash val="solid"/>
                    </a:lnT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1">
                          <a:solidFill>
                            <a:srgbClr val="5340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当前影响</a:t>
                      </a:r>
                      <a:endParaRPr sz="1600" b="1">
                        <a:solidFill>
                          <a:srgbClr val="5340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T w="9525">
                      <a:solidFill>
                        <a:srgbClr val="DAD3E8"/>
                      </a:solidFill>
                      <a:prstDash val="solid"/>
                    </a:lnT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1">
                          <a:solidFill>
                            <a:srgbClr val="53407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应对与所需资源</a:t>
                      </a:r>
                      <a:endParaRPr sz="1600" b="1">
                        <a:solidFill>
                          <a:srgbClr val="53407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T w="9525">
                      <a:solidFill>
                        <a:srgbClr val="DAD3E8"/>
                      </a:solidFill>
                      <a:prstDash val="solid"/>
                    </a:lnT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EEEAF8"/>
                    </a:solidFill>
                  </a:tcPr>
                </a:tc>
              </a:tr>
              <a:tr h="79629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设备与数据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AD3E8"/>
                      </a:solidFill>
                      <a:prstDash val="solid"/>
                    </a:lnL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笔输入、OCR、性能及异常恢复待完善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备份为明文且有范围限制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目标手机、平板与物理笔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合法使用的资料及恢复检查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需求与商业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AD3E8"/>
                      </a:solidFill>
                      <a:prstDash val="solid"/>
                    </a:lnL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AF9F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课程使用效果及付费需求待验证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AF9F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邀请目标学生试用并收集反馈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测量成本后再判断服务投入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AF9FC"/>
                    </a:solidFill>
                  </a:tcPr>
                </a:tc>
              </a:tr>
              <a:tr h="79629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 与数据处理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AD3E8"/>
                      </a:solidFill>
                      <a:prstDash val="solid"/>
                    </a:lnL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草稿可能出错，需人工核对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云处理涉及用户选择的资料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保持独立评估与人工采纳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接入前明确授权和处理说明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629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资质与审核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AD3E8"/>
                      </a:solidFill>
                      <a:prstDash val="solid"/>
                    </a:lnL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AF9F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云服务和 AI 均未接入主程序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服务建设与发布条件仍需完善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AF9FC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核实服务与发布的具体条件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00" b="0">
                          <a:solidFill>
                            <a:srgbClr val="2421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完成签名及所需审核材料</a:t>
                      </a:r>
                      <a:endParaRPr sz="1600" b="0">
                        <a:solidFill>
                          <a:srgbClr val="2421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AD3E8"/>
                      </a:solidFill>
                      <a:prstDash val="solid"/>
                    </a:lnR>
                    <a:lnB w="9525">
                      <a:solidFill>
                        <a:srgbClr val="DAD3E8"/>
                      </a:solidFill>
                      <a:prstDash val="solid"/>
                    </a:lnB>
                    <a:solidFill>
                      <a:srgbClr val="FAF9FC"/>
                    </a:solidFill>
                  </a:tcPr>
                </a:tc>
              </a:tr>
            </a:tbl>
          </a:graphicData>
        </a:graphic>
      </p:graphicFrame>
      <p:sp>
        <p:nvSpPr>
          <p:cNvPr id="35" name="当前优先级：本地流程可靠、同一候选双"/>
          <p:cNvSpPr>
            <a:spLocks noGrp="1"/>
          </p:cNvSpPr>
          <p:nvPr/>
        </p:nvSpPr>
        <p:spPr>
          <a:xfrm>
            <a:off x="685800" y="571500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0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0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0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0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0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0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0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0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0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22000"/>
              </a:lnSpc>
              <a:buNone/>
              <a:defRPr sz="2025" b="1">
                <a:solidFill>
                  <a:srgbClr val="6552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025" b="1">
              <a:solidFill>
                <a:srgbClr val="6552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A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文本框 8"/>
          <p:cNvSpPr>
            <a:spLocks noGrp="1"/>
          </p:cNvSpPr>
          <p:nvPr/>
        </p:nvSpPr>
        <p:spPr>
          <a:xfrm>
            <a:off x="3557237" y="1942121"/>
            <a:ext cx="507752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6600" b="1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  谢</a:t>
            </a:r>
            <a:endParaRPr sz="6600" b="1" i="0" u="none" strike="noStrike" kern="1200" cap="none" spc="0" baseline="0">
              <a:ln>
                <a:noFill/>
              </a:ln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灯片编号占位符 2"/>
          <p:cNvSpPr>
            <a:spLocks noGrp="1"/>
          </p:cNvSpPr>
          <p:nvPr>
            <p:ph type="sldNum" idx="12"/>
          </p:nvPr>
        </p:nvSpPr>
        <p:spPr/>
        <p:txBody>
          <a:bodyPr lIns="0" tIns="0" rIns="0" bIns="0"/>
          <a:lstStyle>
            <a:defPPr algn="ctr">
              <a:defRPr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fld id="{DC9C7607-4BA3-B4DC-A00F-2E67A9FCFF7E}" type="slidenum">
              <a:rPr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sz="10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墨语"/>
          <p:cNvSpPr>
            <a:spLocks noGrp="1"/>
          </p:cNvSpPr>
          <p:nvPr/>
        </p:nvSpPr>
        <p:spPr>
          <a:xfrm>
            <a:off x="3238500" y="3648075"/>
            <a:ext cx="5715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22000"/>
              </a:lnSpc>
              <a:buNone/>
              <a:def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墨语</a:t>
            </a:r>
            <a:endParaRPr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让课程资料、个人理解与复习记录保持联"/>
          <p:cNvSpPr>
            <a:spLocks noGrp="1"/>
          </p:cNvSpPr>
          <p:nvPr/>
        </p:nvSpPr>
        <p:spPr>
          <a:xfrm>
            <a:off x="1524000" y="4505325"/>
            <a:ext cx="9144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20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20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20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20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20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20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20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20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20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22000"/>
              </a:lnSpc>
              <a:buNone/>
              <a:defRPr sz="20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让课程资料、个人理解与复习记录保持联系</a:t>
            </a:r>
            <a:endParaRPr sz="202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2.25,&quot;left&quot;:54,&quot;top&quot;:163.5,&quot;width&quot;:840}"/>
</p:tagLst>
</file>

<file path=ppt/tags/tag2.xml><?xml version="1.0" encoding="utf-8"?>
<p:tagLst xmlns:p="http://schemas.openxmlformats.org/presentationml/2006/main">
  <p:tag name="KSO_WM_DIAGRAM_VIRTUALLY_FRAME" val="{&quot;height&quot;:242.25,&quot;left&quot;:54,&quot;top&quot;:163.5,&quot;width&quot;:840}"/>
</p:tagLst>
</file>

<file path=ppt/tags/tag3.xml><?xml version="1.0" encoding="utf-8"?>
<p:tagLst xmlns:p="http://schemas.openxmlformats.org/presentationml/2006/main">
  <p:tag name="KSO_WM_DIAGRAM_VIRTUALLY_FRAME" val="{&quot;height&quot;:242.25,&quot;left&quot;:54,&quot;top&quot;:163.5,&quot;width&quot;:840}"/>
</p:tagLst>
</file>

<file path=ppt/tags/tag4.xml><?xml version="1.0" encoding="utf-8"?>
<p:tagLst xmlns:p="http://schemas.openxmlformats.org/presentationml/2006/main">
  <p:tag name="KSO_WM_DIAGRAM_VIRTUALLY_FRAME" val="{&quot;height&quot;:242.25,&quot;left&quot;:54,&quot;top&quot;:163.5,&quot;width&quot;:840}"/>
</p:tagLst>
</file>

<file path=ppt/tags/tag5.xml><?xml version="1.0" encoding="utf-8"?>
<p:tagLst xmlns:p="http://schemas.openxmlformats.org/presentationml/2006/main">
  <p:tag name="KSO_WM_DIAGRAM_VIRTUALLY_FRAME" val="{&quot;height&quot;:242.25,&quot;left&quot;:54,&quot;top&quot;:163.5,&quot;width&quot;:840}"/>
</p:tagLst>
</file>

<file path=ppt/tags/tag6.xml><?xml version="1.0" encoding="utf-8"?>
<p:tagLst xmlns:p="http://schemas.openxmlformats.org/presentationml/2006/main">
  <p:tag name="KSO_WM_DIAGRAM_VIRTUALLY_FRAME" val="{&quot;height&quot;:242.25,&quot;left&quot;:54,&quot;top&quot;:163.5,&quot;width&quot;:840}"/>
</p:tagLst>
</file>

<file path=ppt/tags/tag7.xml><?xml version="1.0" encoding="utf-8"?>
<p:tagLst xmlns:p="http://schemas.openxmlformats.org/presentationml/2006/main">
  <p:tag name="KSO_WM_DIAGRAM_VIRTUALLY_FRAME" val="{&quot;height&quot;:242.25,&quot;left&quot;:54,&quot;top&quot;:163.5,&quot;width&quot;:840}"/>
</p:tagLst>
</file>

<file path=ppt/tags/tag8.xml><?xml version="1.0" encoding="utf-8"?>
<p:tagLst xmlns:p="http://schemas.openxmlformats.org/presentationml/2006/main">
  <p:tag name="KSO_WM_DIAGRAM_VIRTUALLY_FRAME" val="{&quot;height&quot;:242.25,&quot;left&quot;:54,&quot;top&quot;:163.5,&quot;width&quot;:840}"/>
</p:tagLst>
</file>

<file path=ppt/theme/theme1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2792</Words>
  <Application>WPS 演示</Application>
  <PresentationFormat>Converted Presentation</PresentationFormat>
  <Paragraphs>416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宋体</vt:lpstr>
      <vt:lpstr>Wingdings</vt:lpstr>
      <vt:lpstr>Source Han Sans CN Normal</vt:lpstr>
      <vt:lpstr>FFont-Family</vt:lpstr>
      <vt:lpstr>Arial</vt:lpstr>
      <vt:lpstr>微软雅黑</vt:lpstr>
      <vt:lpstr>Arial Unicode MS</vt:lpstr>
      <vt:lpstr>Calibri</vt:lpstr>
      <vt:lpstr>Source Han Sans CN Normal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宋瑞博</cp:lastModifiedBy>
  <cp:revision>2</cp:revision>
  <dcterms:created xsi:type="dcterms:W3CDTF">2026-10-30T09:09:57Z</dcterms:created>
  <dcterms:modified xsi:type="dcterms:W3CDTF">2026-10-30T09:11:06Z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2052-12.1.0.29680</vt:lpwstr>
  </property>
  <property fmtid="{D5CDD505-2E9C-101B-9397-08002B2CF9AE}" pid="3" name="ICV">
    <vt:lpwstr>7882C16F5FF44DC2BEBB2EE55387AA72_12</vt:lpwstr>
  </property>
</Properties>
</file>